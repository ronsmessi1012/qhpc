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media/image4.svg" ContentType="image/svg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6" r:id="rId14"/>
  </p:sldIdLst>
  <p:sldSz cx="18288000" cy="10287000"/>
  <p:notesSz cx="6858000" cy="9144000"/>
  <p:embeddedFontLst>
    <p:embeddedFont>
      <p:font typeface="Open Sauce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svg"/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svg"/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svg"/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5.png"/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svg"/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svg"/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svg"/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svg"/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svg"/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.svg"/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svg"/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6982967" y="400502"/>
            <a:ext cx="1305033" cy="333097"/>
            <a:chOff x="0" y="0"/>
            <a:chExt cx="343712" cy="877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3712" cy="87729"/>
            </a:xfrm>
            <a:custGeom>
              <a:avLst/>
              <a:gdLst/>
              <a:ahLst/>
              <a:cxnLst/>
              <a:rect l="l" t="t" r="r" b="b"/>
              <a:pathLst>
                <a:path w="343712" h="87729">
                  <a:moveTo>
                    <a:pt x="0" y="0"/>
                  </a:moveTo>
                  <a:lnTo>
                    <a:pt x="343712" y="0"/>
                  </a:lnTo>
                  <a:lnTo>
                    <a:pt x="343712" y="87729"/>
                  </a:lnTo>
                  <a:lnTo>
                    <a:pt x="0" y="87729"/>
                  </a:lnTo>
                  <a:close/>
                </a:path>
              </a:pathLst>
            </a:custGeom>
            <a:gradFill rotWithShape="1">
              <a:gsLst>
                <a:gs pos="0">
                  <a:srgbClr val="4E69B1">
                    <a:alpha val="100000"/>
                  </a:srgbClr>
                </a:gs>
                <a:gs pos="100000">
                  <a:srgbClr val="15122A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43712" cy="1258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10386026" y="6423577"/>
            <a:ext cx="13746548" cy="8229600"/>
          </a:xfrm>
          <a:custGeom>
            <a:avLst/>
            <a:gdLst/>
            <a:ahLst/>
            <a:cxnLst/>
            <a:rect l="l" t="t" r="r" b="b"/>
            <a:pathLst>
              <a:path w="13746548" h="8229600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8040681" y="-1805781"/>
            <a:ext cx="14774614" cy="12601514"/>
          </a:xfrm>
          <a:custGeom>
            <a:avLst/>
            <a:gdLst/>
            <a:ahLst/>
            <a:cxnLst/>
            <a:rect l="l" t="t" r="r" b="b"/>
            <a:pathLst>
              <a:path w="14774614" h="126015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604462" y="412429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Home</a:t>
            </a:r>
            <a:endParaRPr lang="en-US" sz="1700" b="1" spc="3">
              <a:solidFill>
                <a:srgbClr val="FFFFFF"/>
              </a:solidFill>
              <a:latin typeface="Open Sauce Heavy"/>
              <a:ea typeface="Open Sauce Heavy"/>
              <a:cs typeface="Open Sauce Heavy"/>
              <a:sym typeface="Open Sauce Heavy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447986" y="432733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Abstract</a:t>
            </a:r>
            <a:endParaRPr lang="en-US" sz="1700" spc="3">
              <a:solidFill>
                <a:srgbClr val="FFFFFF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291511" y="412429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Content</a:t>
            </a:r>
            <a:endParaRPr lang="en-US" sz="1700" spc="3">
              <a:solidFill>
                <a:srgbClr val="FFFFFF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5135036" y="412429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Others</a:t>
            </a:r>
            <a:endParaRPr lang="en-US" sz="1700" spc="3">
              <a:solidFill>
                <a:srgbClr val="FFFFFF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81938" y="432733"/>
            <a:ext cx="2753652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80"/>
              </a:lnSpc>
              <a:spcBef>
                <a:spcPct val="0"/>
              </a:spcBef>
            </a:pPr>
            <a:r>
              <a:rPr lang="en-US" sz="1700" b="1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Q-HPC</a:t>
            </a:r>
            <a:endParaRPr lang="en-US" sz="1700" b="1" spc="3">
              <a:solidFill>
                <a:srgbClr val="FFFFFF"/>
              </a:solidFill>
              <a:latin typeface="Open Sauce Heavy"/>
              <a:ea typeface="Open Sauce Heavy"/>
              <a:cs typeface="Open Sauce Heavy"/>
              <a:sym typeface="Open Sauce Heavy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40608" y="6255248"/>
            <a:ext cx="16606783" cy="145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80"/>
              </a:lnSpc>
              <a:spcBef>
                <a:spcPct val="0"/>
              </a:spcBef>
            </a:pPr>
            <a:r>
              <a:rPr lang="en-US" sz="4200" b="1" spc="96">
                <a:solidFill>
                  <a:srgbClr val="B4B4B4">
                    <a:alpha val="49804"/>
                  </a:srgbClr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INTELLIGENT QUANTUM-CLASSICAL EXECUTION FRAMEWORK VIA AI AGENTS AND DISTRIBUTED HPC</a:t>
            </a:r>
            <a:endParaRPr lang="en-US" sz="4200" b="1" spc="96">
              <a:solidFill>
                <a:srgbClr val="B4B4B4">
                  <a:alpha val="49804"/>
                </a:srgbClr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40608" y="2296606"/>
            <a:ext cx="16606783" cy="2198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80"/>
              </a:lnSpc>
              <a:spcBef>
                <a:spcPct val="0"/>
              </a:spcBef>
            </a:pPr>
            <a:r>
              <a:rPr lang="en-US" sz="4200" b="1" spc="96">
                <a:solidFill>
                  <a:srgbClr val="A6A6A6">
                    <a:alpha val="49804"/>
                  </a:srgbClr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AUTONOMOUS MULTI-AGENT REASONING BRIDGED WITH MULTI-NODE MPI AND CUDA HARDWARE ACCELERATION</a:t>
            </a:r>
            <a:endParaRPr lang="en-US" sz="4200" b="1" spc="96">
              <a:solidFill>
                <a:srgbClr val="A6A6A6">
                  <a:alpha val="49804"/>
                </a:srgbClr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40608" y="4000310"/>
            <a:ext cx="16606783" cy="2174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720"/>
              </a:lnSpc>
              <a:spcBef>
                <a:spcPct val="0"/>
              </a:spcBef>
            </a:pPr>
            <a:r>
              <a:rPr lang="en-US" sz="12660" b="1" spc="29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Q-HPC</a:t>
            </a:r>
            <a:endParaRPr lang="en-US" sz="12660" b="1" spc="291">
              <a:solidFill>
                <a:srgbClr val="FFFFFF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-1662139" y="2153651"/>
            <a:ext cx="649224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14954061" y="8017217"/>
            <a:ext cx="649224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Freeform 17"/>
          <p:cNvSpPr/>
          <p:nvPr/>
        </p:nvSpPr>
        <p:spPr>
          <a:xfrm>
            <a:off x="840608" y="413730"/>
            <a:ext cx="347251" cy="347251"/>
          </a:xfrm>
          <a:custGeom>
            <a:avLst/>
            <a:gdLst/>
            <a:ahLst/>
            <a:cxnLst/>
            <a:rect l="l" t="t" r="r" b="b"/>
            <a:pathLst>
              <a:path w="347251" h="347251">
                <a:moveTo>
                  <a:pt x="0" y="0"/>
                </a:moveTo>
                <a:lnTo>
                  <a:pt x="347251" y="0"/>
                </a:lnTo>
                <a:lnTo>
                  <a:pt x="347251" y="347251"/>
                </a:lnTo>
                <a:lnTo>
                  <a:pt x="0" y="3472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00658" y="8088630"/>
            <a:ext cx="18187342" cy="2198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1" spc="96">
                <a:solidFill>
                  <a:srgbClr val="FFFFFF">
                    <a:alpha val="96863"/>
                  </a:srgbClr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AUTHORS:</a:t>
            </a:r>
            <a:endParaRPr lang="en-US" sz="4200" b="1" spc="96">
              <a:solidFill>
                <a:srgbClr val="FFFFFF">
                  <a:alpha val="96863"/>
                </a:srgbClr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  <a:p>
            <a:pPr algn="l">
              <a:lnSpc>
                <a:spcPts val="5880"/>
              </a:lnSpc>
            </a:pPr>
            <a:r>
              <a:rPr lang="en-US" sz="4200" b="1" spc="96">
                <a:solidFill>
                  <a:srgbClr val="FFFFFF">
                    <a:alpha val="96863"/>
                  </a:srgbClr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RUDRANIL CHOWDHURY</a:t>
            </a:r>
            <a:endParaRPr lang="en-US" sz="4200" b="1" spc="96">
              <a:solidFill>
                <a:srgbClr val="FFFFFF">
                  <a:alpha val="96863"/>
                </a:srgbClr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  <a:p>
            <a:pPr marL="0" lvl="0" indent="0" algn="l">
              <a:lnSpc>
                <a:spcPts val="5880"/>
              </a:lnSpc>
              <a:spcBef>
                <a:spcPct val="0"/>
              </a:spcBef>
            </a:pPr>
            <a:r>
              <a:rPr lang="en-US" sz="4200" b="1" spc="96">
                <a:solidFill>
                  <a:srgbClr val="FFFFFF">
                    <a:alpha val="96863"/>
                  </a:srgbClr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HIMADRI MAZUMDER</a:t>
            </a:r>
            <a:endParaRPr lang="en-US" sz="4200" b="1" spc="96">
              <a:solidFill>
                <a:srgbClr val="FFFFFF">
                  <a:alpha val="96863"/>
                </a:srgbClr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40608" y="1136381"/>
            <a:ext cx="16606783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80"/>
              </a:lnSpc>
              <a:spcBef>
                <a:spcPct val="0"/>
              </a:spcBef>
            </a:pPr>
            <a:r>
              <a:rPr lang="en-US" sz="4200" b="1" spc="96">
                <a:solidFill>
                  <a:srgbClr val="A6A6A6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PROJECT SYNOPSIS ON:</a:t>
            </a:r>
            <a:endParaRPr lang="en-US" sz="4200" b="1" spc="96">
              <a:solidFill>
                <a:srgbClr val="A6A6A6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6982967" y="400502"/>
            <a:ext cx="1305033" cy="333097"/>
            <a:chOff x="0" y="0"/>
            <a:chExt cx="343712" cy="877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3712" cy="87729"/>
            </a:xfrm>
            <a:custGeom>
              <a:avLst/>
              <a:gdLst/>
              <a:ahLst/>
              <a:cxnLst/>
              <a:rect l="l" t="t" r="r" b="b"/>
              <a:pathLst>
                <a:path w="343712" h="87729">
                  <a:moveTo>
                    <a:pt x="0" y="0"/>
                  </a:moveTo>
                  <a:lnTo>
                    <a:pt x="343712" y="0"/>
                  </a:lnTo>
                  <a:lnTo>
                    <a:pt x="343712" y="87729"/>
                  </a:lnTo>
                  <a:lnTo>
                    <a:pt x="0" y="87729"/>
                  </a:lnTo>
                  <a:close/>
                </a:path>
              </a:pathLst>
            </a:custGeom>
            <a:gradFill rotWithShape="1">
              <a:gsLst>
                <a:gs pos="0">
                  <a:srgbClr val="4E69B1">
                    <a:alpha val="100000"/>
                  </a:srgbClr>
                </a:gs>
                <a:gs pos="100000">
                  <a:srgbClr val="15122A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43712" cy="1258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-7598184" y="-1481982"/>
            <a:ext cx="14774614" cy="12601514"/>
          </a:xfrm>
          <a:custGeom>
            <a:avLst/>
            <a:gdLst/>
            <a:ahLst/>
            <a:cxnLst/>
            <a:rect l="l" t="t" r="r" b="b"/>
            <a:pathLst>
              <a:path w="14774614" h="126015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386026" y="6423577"/>
            <a:ext cx="13746548" cy="8229600"/>
          </a:xfrm>
          <a:custGeom>
            <a:avLst/>
            <a:gdLst/>
            <a:ahLst/>
            <a:cxnLst/>
            <a:rect l="l" t="t" r="r" b="b"/>
            <a:pathLst>
              <a:path w="13746548" h="8229600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604462" y="412429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Home</a:t>
            </a:r>
            <a:endParaRPr lang="en-US" sz="1700" spc="3">
              <a:solidFill>
                <a:srgbClr val="FFFFFF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447986" y="432733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Abstract</a:t>
            </a:r>
            <a:endParaRPr lang="en-US" sz="1700" b="1" spc="3">
              <a:solidFill>
                <a:srgbClr val="FFFFFF"/>
              </a:solidFill>
              <a:latin typeface="Open Sauce Heavy"/>
              <a:ea typeface="Open Sauce Heavy"/>
              <a:cs typeface="Open Sauce Heavy"/>
              <a:sym typeface="Open Sauce Heavy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291511" y="412429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Content</a:t>
            </a:r>
            <a:endParaRPr lang="en-US" sz="1700" spc="3">
              <a:solidFill>
                <a:srgbClr val="FFFFFF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5135036" y="412429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Others</a:t>
            </a:r>
            <a:endParaRPr lang="en-US" sz="1700" spc="3">
              <a:solidFill>
                <a:srgbClr val="FFFFFF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327749" y="1832710"/>
            <a:ext cx="3632502" cy="986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05"/>
              </a:lnSpc>
            </a:pPr>
            <a:r>
              <a:rPr lang="en-US" sz="6640" b="1" spc="-3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Abstract</a:t>
            </a:r>
            <a:endParaRPr lang="en-US" sz="6640" b="1" spc="-312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3901413"/>
            <a:ext cx="16230600" cy="5178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9430" lvl="1" indent="-259715" algn="just">
              <a:lnSpc>
                <a:spcPts val="3365"/>
              </a:lnSpc>
              <a:buFont typeface="Arial" panose="020B0604020202090204"/>
              <a:buChar char="•"/>
            </a:pPr>
            <a:r>
              <a:rPr lang="en-US" sz="2405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Q-HPC is an AI-driven framework that intelligently selects and executes classical or quantum algorithms based on a user's computational problem and resource constraints.</a:t>
            </a:r>
            <a:endParaRPr lang="en-US" sz="2405" spc="79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marL="519430" lvl="1" indent="-259715" algn="just">
              <a:lnSpc>
                <a:spcPts val="3365"/>
              </a:lnSpc>
              <a:buFont typeface="Arial" panose="020B0604020202090204"/>
              <a:buChar char="•"/>
            </a:pPr>
            <a:r>
              <a:rPr lang="en-US" sz="2405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 local LLM agent analyzes natural language problem statements and converts them into structured metadata for automated algorithm recommendation.</a:t>
            </a:r>
            <a:endParaRPr lang="en-US" sz="2405" spc="79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marL="519430" lvl="1" indent="-259715" algn="just">
              <a:lnSpc>
                <a:spcPts val="3365"/>
              </a:lnSpc>
              <a:buFont typeface="Arial" panose="020B0604020202090204"/>
              <a:buChar char="•"/>
            </a:pPr>
            <a:r>
              <a:rPr lang="en-US" sz="2405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 Resource Estimator predicts memory, qubit requirements, execution time, and hardware suitability before launching computation.</a:t>
            </a:r>
            <a:endParaRPr lang="en-US" sz="2405" spc="79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marL="519430" lvl="1" indent="-259715" algn="just">
              <a:lnSpc>
                <a:spcPts val="3365"/>
              </a:lnSpc>
              <a:buFont typeface="Arial" panose="020B0604020202090204"/>
              <a:buChar char="•"/>
            </a:pPr>
            <a:r>
              <a:rPr lang="en-US" sz="2405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The framework dispatches workloads to the most appropriate CPU, GPU (CUDA), or distributed MPI backend, enabling efficient hybrid execution.</a:t>
            </a:r>
            <a:endParaRPr lang="en-US" sz="2405" spc="79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marL="519430" lvl="1" indent="-259715" algn="just">
              <a:lnSpc>
                <a:spcPts val="3365"/>
              </a:lnSpc>
              <a:buFont typeface="Arial" panose="020B0604020202090204"/>
              <a:buChar char="•"/>
            </a:pPr>
            <a:r>
              <a:rPr lang="en-US" sz="2405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 runtime-aware Critic Agent monitors execution feedback and adaptively refines algorithm selection or execution parameters to improve performance and reliability.</a:t>
            </a:r>
            <a:endParaRPr lang="en-US" sz="2405" spc="79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algn="just">
              <a:lnSpc>
                <a:spcPts val="3365"/>
              </a:lnSpc>
            </a:pPr>
          </a:p>
          <a:p>
            <a:pPr algn="just">
              <a:lnSpc>
                <a:spcPts val="3365"/>
              </a:lnSpc>
            </a:pPr>
          </a:p>
        </p:txBody>
      </p:sp>
      <p:sp>
        <p:nvSpPr>
          <p:cNvPr id="13" name="TextBox 13"/>
          <p:cNvSpPr txBox="1"/>
          <p:nvPr/>
        </p:nvSpPr>
        <p:spPr>
          <a:xfrm>
            <a:off x="1281938" y="432733"/>
            <a:ext cx="2753652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80"/>
              </a:lnSpc>
              <a:spcBef>
                <a:spcPct val="0"/>
              </a:spcBef>
            </a:pPr>
            <a:r>
              <a:rPr lang="en-US" sz="1700" b="1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Q-HPC</a:t>
            </a:r>
            <a:endParaRPr lang="en-US" sz="1700" b="1" spc="3">
              <a:solidFill>
                <a:srgbClr val="FFFFFF"/>
              </a:solidFill>
              <a:latin typeface="Open Sauce Heavy"/>
              <a:ea typeface="Open Sauce Heavy"/>
              <a:cs typeface="Open Sauce Heavy"/>
              <a:sym typeface="Open Sauce Heavy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840608" y="413730"/>
            <a:ext cx="347251" cy="347251"/>
          </a:xfrm>
          <a:custGeom>
            <a:avLst/>
            <a:gdLst/>
            <a:ahLst/>
            <a:cxnLst/>
            <a:rect l="l" t="t" r="r" b="b"/>
            <a:pathLst>
              <a:path w="347251" h="347251">
                <a:moveTo>
                  <a:pt x="0" y="0"/>
                </a:moveTo>
                <a:lnTo>
                  <a:pt x="347251" y="0"/>
                </a:lnTo>
                <a:lnTo>
                  <a:pt x="347251" y="347251"/>
                </a:lnTo>
                <a:lnTo>
                  <a:pt x="0" y="3472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6982967" y="400502"/>
            <a:ext cx="1305033" cy="333097"/>
            <a:chOff x="0" y="0"/>
            <a:chExt cx="343712" cy="877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3712" cy="87729"/>
            </a:xfrm>
            <a:custGeom>
              <a:avLst/>
              <a:gdLst/>
              <a:ahLst/>
              <a:cxnLst/>
              <a:rect l="l" t="t" r="r" b="b"/>
              <a:pathLst>
                <a:path w="343712" h="87729">
                  <a:moveTo>
                    <a:pt x="0" y="0"/>
                  </a:moveTo>
                  <a:lnTo>
                    <a:pt x="343712" y="0"/>
                  </a:lnTo>
                  <a:lnTo>
                    <a:pt x="343712" y="87729"/>
                  </a:lnTo>
                  <a:lnTo>
                    <a:pt x="0" y="87729"/>
                  </a:lnTo>
                  <a:close/>
                </a:path>
              </a:pathLst>
            </a:custGeom>
            <a:gradFill rotWithShape="1">
              <a:gsLst>
                <a:gs pos="0">
                  <a:srgbClr val="4E69B1">
                    <a:alpha val="100000"/>
                  </a:srgbClr>
                </a:gs>
                <a:gs pos="100000">
                  <a:srgbClr val="15122A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43712" cy="1258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-7607709" y="-1481982"/>
            <a:ext cx="14774614" cy="12601514"/>
          </a:xfrm>
          <a:custGeom>
            <a:avLst/>
            <a:gdLst/>
            <a:ahLst/>
            <a:cxnLst/>
            <a:rect l="l" t="t" r="r" b="b"/>
            <a:pathLst>
              <a:path w="14774614" h="126015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67670" y="3919462"/>
            <a:ext cx="16352660" cy="4739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just">
              <a:lnSpc>
                <a:spcPts val="3360"/>
              </a:lnSpc>
              <a:buFont typeface="Arial" panose="020B0604020202090204"/>
              <a:buChar char="•"/>
            </a:pP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Modern workloads require complex trade-offs between classical heuristics (e.g., XGBoost, SVM) and quantum algorithms (e.g., QAOA, VQE, QSVM).</a:t>
            </a:r>
            <a:endParaRPr lang="en-US" sz="2400" spc="79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marL="518160" lvl="1" indent="-259080" algn="just">
              <a:lnSpc>
                <a:spcPts val="3360"/>
              </a:lnSpc>
              <a:buFont typeface="Arial" panose="020B0604020202090204"/>
              <a:buChar char="•"/>
            </a:pP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Quantum state-vector simulations scale exponentially (2ᴺ complex amplitudes for N qubits), quickly exhausting single node memory limits.</a:t>
            </a:r>
            <a:endParaRPr lang="en-US" sz="2400" spc="79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marL="518160" lvl="1" indent="-259080" algn="just">
              <a:lnSpc>
                <a:spcPts val="3360"/>
              </a:lnSpc>
              <a:buFont typeface="Arial" panose="020B0604020202090204"/>
              <a:buChar char="•"/>
            </a:pP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Manual hardware allocation across CPU cores, VRAM, and distributed nodes is error prone and non-optimal.</a:t>
            </a:r>
            <a:endParaRPr lang="en-US" sz="2400" spc="79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marL="518160" lvl="1" indent="-259080" algn="just">
              <a:lnSpc>
                <a:spcPts val="3360"/>
              </a:lnSpc>
              <a:buFont typeface="Arial" panose="020B0604020202090204"/>
              <a:buChar char="•"/>
            </a:pP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Existing computational pipelines lack automated runtime introspection when hardware memory bounds or timeouts are exceeded.</a:t>
            </a:r>
            <a:endParaRPr lang="en-US" sz="2400" spc="79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marL="518160" lvl="1" indent="-259080" algn="just">
              <a:lnSpc>
                <a:spcPts val="3360"/>
              </a:lnSpc>
              <a:buFont typeface="Arial" panose="020B0604020202090204"/>
              <a:buChar char="•"/>
            </a:pP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Q-HPC bridges this gap by coupling an intelligent agentic frontend with an MPI + CUDA accelerated backend.</a:t>
            </a:r>
            <a:endParaRPr lang="en-US" sz="2400" spc="79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algn="just">
              <a:lnSpc>
                <a:spcPts val="3360"/>
              </a:lnSpc>
            </a:pPr>
          </a:p>
        </p:txBody>
      </p:sp>
      <p:sp>
        <p:nvSpPr>
          <p:cNvPr id="7" name="Freeform 7"/>
          <p:cNvSpPr/>
          <p:nvPr/>
        </p:nvSpPr>
        <p:spPr>
          <a:xfrm>
            <a:off x="10386026" y="6423577"/>
            <a:ext cx="13746548" cy="8229600"/>
          </a:xfrm>
          <a:custGeom>
            <a:avLst/>
            <a:gdLst/>
            <a:ahLst/>
            <a:cxnLst/>
            <a:rect l="l" t="t" r="r" b="b"/>
            <a:pathLst>
              <a:path w="13746548" h="8229600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604462" y="412429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Home</a:t>
            </a:r>
            <a:endParaRPr lang="en-US" sz="1700" spc="3">
              <a:solidFill>
                <a:srgbClr val="FFFFFF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447986" y="432733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Abstract</a:t>
            </a:r>
            <a:endParaRPr lang="en-US" sz="1700" spc="3">
              <a:solidFill>
                <a:srgbClr val="FFFFFF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291511" y="412429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Content</a:t>
            </a:r>
            <a:endParaRPr lang="en-US" sz="1700" b="1" spc="3">
              <a:solidFill>
                <a:srgbClr val="FFFFFF"/>
              </a:solidFill>
              <a:latin typeface="Open Sauce Heavy"/>
              <a:ea typeface="Open Sauce Heavy"/>
              <a:cs typeface="Open Sauce Heavy"/>
              <a:sym typeface="Open Sauce Heavy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5135036" y="412429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Others</a:t>
            </a:r>
            <a:endParaRPr lang="en-US" sz="1700" spc="3">
              <a:solidFill>
                <a:srgbClr val="FFFFFF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873856" y="1732176"/>
            <a:ext cx="10540289" cy="986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705"/>
              </a:lnSpc>
            </a:pPr>
            <a:r>
              <a:rPr lang="en-US" sz="6640" b="1" spc="-3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 &amp; Motivation</a:t>
            </a:r>
            <a:endParaRPr lang="en-US" sz="6640" b="1" spc="-312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81938" y="432733"/>
            <a:ext cx="2753652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80"/>
              </a:lnSpc>
              <a:spcBef>
                <a:spcPct val="0"/>
              </a:spcBef>
            </a:pPr>
            <a:r>
              <a:rPr lang="en-US" sz="1700" b="1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Q-HPC</a:t>
            </a:r>
            <a:endParaRPr lang="en-US" sz="1700" b="1" spc="3">
              <a:solidFill>
                <a:srgbClr val="FFFFFF"/>
              </a:solidFill>
              <a:latin typeface="Open Sauce Heavy"/>
              <a:ea typeface="Open Sauce Heavy"/>
              <a:cs typeface="Open Sauce Heavy"/>
              <a:sym typeface="Open Sauce Heavy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840608" y="413730"/>
            <a:ext cx="347251" cy="347251"/>
          </a:xfrm>
          <a:custGeom>
            <a:avLst/>
            <a:gdLst/>
            <a:ahLst/>
            <a:cxnLst/>
            <a:rect l="l" t="t" r="r" b="b"/>
            <a:pathLst>
              <a:path w="347251" h="347251">
                <a:moveTo>
                  <a:pt x="0" y="0"/>
                </a:moveTo>
                <a:lnTo>
                  <a:pt x="347251" y="0"/>
                </a:lnTo>
                <a:lnTo>
                  <a:pt x="347251" y="347251"/>
                </a:lnTo>
                <a:lnTo>
                  <a:pt x="0" y="3472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6982967" y="400502"/>
            <a:ext cx="1305033" cy="333097"/>
            <a:chOff x="0" y="0"/>
            <a:chExt cx="343712" cy="877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3712" cy="87729"/>
            </a:xfrm>
            <a:custGeom>
              <a:avLst/>
              <a:gdLst/>
              <a:ahLst/>
              <a:cxnLst/>
              <a:rect l="l" t="t" r="r" b="b"/>
              <a:pathLst>
                <a:path w="343712" h="87729">
                  <a:moveTo>
                    <a:pt x="0" y="0"/>
                  </a:moveTo>
                  <a:lnTo>
                    <a:pt x="343712" y="0"/>
                  </a:lnTo>
                  <a:lnTo>
                    <a:pt x="343712" y="87729"/>
                  </a:lnTo>
                  <a:lnTo>
                    <a:pt x="0" y="87729"/>
                  </a:lnTo>
                  <a:close/>
                </a:path>
              </a:pathLst>
            </a:custGeom>
            <a:gradFill rotWithShape="1">
              <a:gsLst>
                <a:gs pos="0">
                  <a:srgbClr val="4E69B1">
                    <a:alpha val="100000"/>
                  </a:srgbClr>
                </a:gs>
                <a:gs pos="100000">
                  <a:srgbClr val="15122A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43712" cy="1258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-7607709" y="-1481982"/>
            <a:ext cx="14774614" cy="12601514"/>
          </a:xfrm>
          <a:custGeom>
            <a:avLst/>
            <a:gdLst/>
            <a:ahLst/>
            <a:cxnLst/>
            <a:rect l="l" t="t" r="r" b="b"/>
            <a:pathLst>
              <a:path w="14774614" h="126015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67670" y="3919462"/>
            <a:ext cx="16352660" cy="4596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just">
              <a:lnSpc>
                <a:spcPts val="3360"/>
              </a:lnSpc>
              <a:buFont typeface="Arial" panose="020B0604020202090204"/>
              <a:buChar char="•"/>
            </a:pPr>
            <a:r>
              <a:rPr lang="en-US" sz="2400" b="1" spc="7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Cao et al</a:t>
            </a: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. (2025): Demonstrated autonomous multi-agent LLM orchestration for closed-loop quantum laboratory experiments.</a:t>
            </a:r>
            <a:endParaRPr lang="en-US" sz="2400" spc="79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marL="518160" lvl="1" indent="-259080" algn="just">
              <a:lnSpc>
                <a:spcPts val="3360"/>
              </a:lnSpc>
              <a:buFont typeface="Arial" panose="020B0604020202090204"/>
              <a:buChar char="•"/>
            </a:pPr>
            <a:r>
              <a:rPr lang="en-US" sz="2400" b="1" spc="7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Chundury et al.</a:t>
            </a: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(2025): Introduced a scalable hybrid Quantum-HPC framework integrating MPI, Qiskit Aer, and multiple quantum simulators.</a:t>
            </a:r>
            <a:endParaRPr lang="en-US" sz="2400" spc="79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marL="518160" lvl="1" indent="-259080" algn="just">
              <a:lnSpc>
                <a:spcPts val="3360"/>
              </a:lnSpc>
              <a:buFont typeface="Arial" panose="020B0604020202090204"/>
              <a:buChar char="•"/>
            </a:pPr>
            <a:r>
              <a:rPr lang="en-US" sz="2400" b="1" spc="7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  <a:r>
              <a:rPr lang="en-US" sz="2400" b="1" spc="7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ultanow et al.</a:t>
            </a: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(2025): Established the architectural foundations of quantum-enabled autonomous AI agents for intelligent decision-making.</a:t>
            </a:r>
            <a:endParaRPr lang="en-US" sz="2400" spc="79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marL="518160" lvl="1" indent="-259080" algn="just">
              <a:lnSpc>
                <a:spcPts val="3360"/>
              </a:lnSpc>
              <a:buFont typeface="Arial" panose="020B0604020202090204"/>
              <a:buChar char="•"/>
            </a:pPr>
            <a:r>
              <a:rPr lang="en-US" sz="2400" b="1" spc="7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 et al.</a:t>
            </a: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(2025): Developed an LLM-powered multi-agent system for automated OpenQASM generation and quantum program verification.</a:t>
            </a:r>
            <a:endParaRPr lang="en-US" sz="2400" spc="79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marL="518160" lvl="1" indent="-259080" algn="just">
              <a:lnSpc>
                <a:spcPts val="3360"/>
              </a:lnSpc>
              <a:buFont typeface="Arial" panose="020B0604020202090204"/>
              <a:buChar char="•"/>
            </a:pPr>
            <a:r>
              <a:rPr lang="en-US" sz="2400" b="1" spc="7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Shiraishi et al.</a:t>
            </a: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(2026): Proposed AI-driven execution orchestration for hybrid quantum-HPC environments using the Model Context Protocol.</a:t>
            </a:r>
            <a:endParaRPr lang="en-US" sz="2400" spc="79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algn="just">
              <a:lnSpc>
                <a:spcPts val="3360"/>
              </a:lnSpc>
            </a:pPr>
          </a:p>
        </p:txBody>
      </p:sp>
      <p:sp>
        <p:nvSpPr>
          <p:cNvPr id="7" name="Freeform 7"/>
          <p:cNvSpPr/>
          <p:nvPr/>
        </p:nvSpPr>
        <p:spPr>
          <a:xfrm>
            <a:off x="10386026" y="6423577"/>
            <a:ext cx="13746548" cy="8229600"/>
          </a:xfrm>
          <a:custGeom>
            <a:avLst/>
            <a:gdLst/>
            <a:ahLst/>
            <a:cxnLst/>
            <a:rect l="l" t="t" r="r" b="b"/>
            <a:pathLst>
              <a:path w="13746548" h="8229600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604462" y="412429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Home</a:t>
            </a:r>
            <a:endParaRPr lang="en-US" sz="1700" spc="3">
              <a:solidFill>
                <a:srgbClr val="FFFFFF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447986" y="432733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Abstract</a:t>
            </a:r>
            <a:endParaRPr lang="en-US" sz="1700" spc="3">
              <a:solidFill>
                <a:srgbClr val="FFFFFF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291511" y="412429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Content</a:t>
            </a:r>
            <a:endParaRPr lang="en-US" sz="1700" b="1" spc="3">
              <a:solidFill>
                <a:srgbClr val="FFFFFF"/>
              </a:solidFill>
              <a:latin typeface="Open Sauce Heavy"/>
              <a:ea typeface="Open Sauce Heavy"/>
              <a:cs typeface="Open Sauce Heavy"/>
              <a:sym typeface="Open Sauce Heavy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5135036" y="412429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Others</a:t>
            </a:r>
            <a:endParaRPr lang="en-US" sz="1700" spc="3">
              <a:solidFill>
                <a:srgbClr val="FFFFFF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304902" y="1732176"/>
            <a:ext cx="7678196" cy="986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705"/>
              </a:lnSpc>
            </a:pPr>
            <a:r>
              <a:rPr lang="en-US" sz="6640" b="1" spc="-3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Literature Reviews</a:t>
            </a:r>
            <a:endParaRPr lang="en-US" sz="6640" b="1" spc="-312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81938" y="432733"/>
            <a:ext cx="2753652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80"/>
              </a:lnSpc>
              <a:spcBef>
                <a:spcPct val="0"/>
              </a:spcBef>
            </a:pPr>
            <a:r>
              <a:rPr lang="en-US" sz="1700" b="1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Q-HPC</a:t>
            </a:r>
            <a:endParaRPr lang="en-US" sz="1700" b="1" spc="3">
              <a:solidFill>
                <a:srgbClr val="FFFFFF"/>
              </a:solidFill>
              <a:latin typeface="Open Sauce Heavy"/>
              <a:ea typeface="Open Sauce Heavy"/>
              <a:cs typeface="Open Sauce Heavy"/>
              <a:sym typeface="Open Sauce Heavy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840608" y="413730"/>
            <a:ext cx="347251" cy="347251"/>
          </a:xfrm>
          <a:custGeom>
            <a:avLst/>
            <a:gdLst/>
            <a:ahLst/>
            <a:cxnLst/>
            <a:rect l="l" t="t" r="r" b="b"/>
            <a:pathLst>
              <a:path w="347251" h="347251">
                <a:moveTo>
                  <a:pt x="0" y="0"/>
                </a:moveTo>
                <a:lnTo>
                  <a:pt x="347251" y="0"/>
                </a:lnTo>
                <a:lnTo>
                  <a:pt x="347251" y="347251"/>
                </a:lnTo>
                <a:lnTo>
                  <a:pt x="0" y="3472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6982967" y="400502"/>
            <a:ext cx="1305033" cy="333097"/>
            <a:chOff x="0" y="0"/>
            <a:chExt cx="343712" cy="877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3712" cy="87729"/>
            </a:xfrm>
            <a:custGeom>
              <a:avLst/>
              <a:gdLst/>
              <a:ahLst/>
              <a:cxnLst/>
              <a:rect l="l" t="t" r="r" b="b"/>
              <a:pathLst>
                <a:path w="343712" h="87729">
                  <a:moveTo>
                    <a:pt x="0" y="0"/>
                  </a:moveTo>
                  <a:lnTo>
                    <a:pt x="343712" y="0"/>
                  </a:lnTo>
                  <a:lnTo>
                    <a:pt x="343712" y="87729"/>
                  </a:lnTo>
                  <a:lnTo>
                    <a:pt x="0" y="87729"/>
                  </a:lnTo>
                  <a:close/>
                </a:path>
              </a:pathLst>
            </a:custGeom>
            <a:gradFill rotWithShape="1">
              <a:gsLst>
                <a:gs pos="0">
                  <a:srgbClr val="4E69B1">
                    <a:alpha val="100000"/>
                  </a:srgbClr>
                </a:gs>
                <a:gs pos="100000">
                  <a:srgbClr val="15122A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43712" cy="1258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-7607709" y="-1481982"/>
            <a:ext cx="14774614" cy="12601514"/>
          </a:xfrm>
          <a:custGeom>
            <a:avLst/>
            <a:gdLst/>
            <a:ahLst/>
            <a:cxnLst/>
            <a:rect l="l" t="t" r="r" b="b"/>
            <a:pathLst>
              <a:path w="14774614" h="126015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386026" y="6423577"/>
            <a:ext cx="13746548" cy="8229600"/>
          </a:xfrm>
          <a:custGeom>
            <a:avLst/>
            <a:gdLst/>
            <a:ahLst/>
            <a:cxnLst/>
            <a:rect l="l" t="t" r="r" b="b"/>
            <a:pathLst>
              <a:path w="13746548" h="8229600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604462" y="412429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Home</a:t>
            </a:r>
            <a:endParaRPr lang="en-US" sz="1700" spc="3">
              <a:solidFill>
                <a:srgbClr val="FFFFFF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447986" y="432733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Abstract</a:t>
            </a:r>
            <a:endParaRPr lang="en-US" sz="1700" spc="3">
              <a:solidFill>
                <a:srgbClr val="FFFFFF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291511" y="412429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Content</a:t>
            </a:r>
            <a:endParaRPr lang="en-US" sz="1700" b="1" spc="3">
              <a:solidFill>
                <a:srgbClr val="FFFFFF"/>
              </a:solidFill>
              <a:latin typeface="Open Sauce Heavy"/>
              <a:ea typeface="Open Sauce Heavy"/>
              <a:cs typeface="Open Sauce Heavy"/>
              <a:sym typeface="Open Sauce Heavy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5135036" y="412429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Others</a:t>
            </a:r>
            <a:endParaRPr lang="en-US" sz="1700" spc="3">
              <a:solidFill>
                <a:srgbClr val="FFFFFF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831558" y="2056051"/>
            <a:ext cx="9571446" cy="986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705"/>
              </a:lnSpc>
            </a:pPr>
            <a:r>
              <a:rPr lang="en-US" sz="6640" b="1" spc="-3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Proposed Architecture</a:t>
            </a:r>
            <a:endParaRPr lang="en-US" sz="6640" b="1" spc="-312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16993" y="3765754"/>
            <a:ext cx="8960382" cy="5277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3075" lvl="1" indent="-236220" algn="just">
              <a:lnSpc>
                <a:spcPts val="3065"/>
              </a:lnSpc>
              <a:buFont typeface="Arial" panose="020B0604020202090204"/>
              <a:buChar char="•"/>
            </a:pPr>
            <a:r>
              <a:rPr lang="en-US" sz="2190" spc="7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Decouples high-level probabilistic reasoning from low-level deterministic HPC execution through a multi-stage pipeline.</a:t>
            </a:r>
            <a:endParaRPr lang="en-US" sz="2190" spc="72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marL="473075" lvl="1" indent="-236220" algn="just">
              <a:lnSpc>
                <a:spcPts val="3065"/>
              </a:lnSpc>
              <a:buFont typeface="Arial" panose="020B0604020202090204"/>
              <a:buChar char="•"/>
            </a:pPr>
            <a:r>
              <a:rPr lang="en-US" sz="2190" spc="7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Raw user problem statements pass through the Problem Analyzer to extract structured features and dataset parameters.</a:t>
            </a:r>
            <a:endParaRPr lang="en-US" sz="2190" spc="72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marL="473075" lvl="1" indent="-236220" algn="just">
              <a:lnSpc>
                <a:spcPts val="3065"/>
              </a:lnSpc>
              <a:buFont typeface="Arial" panose="020B0604020202090204"/>
              <a:buChar char="•"/>
            </a:pPr>
            <a:r>
              <a:rPr lang="en-US" sz="2190" spc="7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Standardized JSON contracts enforce strict execution schemas (dimensions, algorithm type, time, and memory limits).</a:t>
            </a:r>
            <a:endParaRPr lang="en-US" sz="2190" spc="72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marL="473075" lvl="1" indent="-236220" algn="just">
              <a:lnSpc>
                <a:spcPts val="3065"/>
              </a:lnSpc>
              <a:buFont typeface="Arial" panose="020B0604020202090204"/>
              <a:buChar char="•"/>
            </a:pPr>
            <a:r>
              <a:rPr lang="en-US" sz="2190" spc="7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The Resource Estimator inspects the JSON payload to configure the optimal execution target: CPU, CUDA, or MPI + CUDA.</a:t>
            </a:r>
            <a:endParaRPr lang="en-US" sz="2190" spc="72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marL="473075" lvl="1" indent="-236220" algn="just">
              <a:lnSpc>
                <a:spcPts val="3065"/>
              </a:lnSpc>
              <a:buFont typeface="Arial" panose="020B0604020202090204"/>
              <a:buChar char="•"/>
            </a:pPr>
            <a:r>
              <a:rPr lang="en-US" sz="2190" spc="7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Execution outputs and telemetry flow into a Performance Engine, feeding back into the Agent Critic to close the loop.</a:t>
            </a:r>
            <a:endParaRPr lang="en-US" sz="2190" spc="72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algn="just">
              <a:lnSpc>
                <a:spcPts val="3065"/>
              </a:lnSpc>
            </a:pPr>
          </a:p>
        </p:txBody>
      </p:sp>
      <p:grpSp>
        <p:nvGrpSpPr>
          <p:cNvPr id="13" name="Group 13"/>
          <p:cNvGrpSpPr/>
          <p:nvPr/>
        </p:nvGrpSpPr>
        <p:grpSpPr>
          <a:xfrm rot="0">
            <a:off x="-220402" y="1494982"/>
            <a:ext cx="9051959" cy="7763318"/>
            <a:chOff x="0" y="0"/>
            <a:chExt cx="2907505" cy="249359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907505" cy="2493591"/>
            </a:xfrm>
            <a:custGeom>
              <a:avLst/>
              <a:gdLst/>
              <a:ahLst/>
              <a:cxnLst/>
              <a:rect l="l" t="t" r="r" b="b"/>
              <a:pathLst>
                <a:path w="2907505" h="2493591">
                  <a:moveTo>
                    <a:pt x="15395" y="0"/>
                  </a:moveTo>
                  <a:lnTo>
                    <a:pt x="2892110" y="0"/>
                  </a:lnTo>
                  <a:cubicBezTo>
                    <a:pt x="2900612" y="0"/>
                    <a:pt x="2907505" y="6893"/>
                    <a:pt x="2907505" y="15395"/>
                  </a:cubicBezTo>
                  <a:lnTo>
                    <a:pt x="2907505" y="2478196"/>
                  </a:lnTo>
                  <a:cubicBezTo>
                    <a:pt x="2907505" y="2486699"/>
                    <a:pt x="2900612" y="2493591"/>
                    <a:pt x="2892110" y="2493591"/>
                  </a:cubicBezTo>
                  <a:lnTo>
                    <a:pt x="15395" y="2493591"/>
                  </a:lnTo>
                  <a:cubicBezTo>
                    <a:pt x="6893" y="2493591"/>
                    <a:pt x="0" y="2486699"/>
                    <a:pt x="0" y="2478196"/>
                  </a:cubicBezTo>
                  <a:lnTo>
                    <a:pt x="0" y="15395"/>
                  </a:lnTo>
                  <a:cubicBezTo>
                    <a:pt x="0" y="6893"/>
                    <a:pt x="6893" y="0"/>
                    <a:pt x="15395" y="0"/>
                  </a:cubicBezTo>
                  <a:close/>
                </a:path>
              </a:pathLst>
            </a:custGeom>
            <a:blipFill>
              <a:blip r:embed="rId3"/>
              <a:stretch>
                <a:fillRect l="-28964" r="-28400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1281938" y="432733"/>
            <a:ext cx="2753652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80"/>
              </a:lnSpc>
              <a:spcBef>
                <a:spcPct val="0"/>
              </a:spcBef>
            </a:pPr>
            <a:r>
              <a:rPr lang="en-US" sz="1700" b="1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Q-HPC</a:t>
            </a:r>
            <a:endParaRPr lang="en-US" sz="1700" b="1" spc="3">
              <a:solidFill>
                <a:srgbClr val="FFFFFF"/>
              </a:solidFill>
              <a:latin typeface="Open Sauce Heavy"/>
              <a:ea typeface="Open Sauce Heavy"/>
              <a:cs typeface="Open Sauce Heavy"/>
              <a:sym typeface="Open Sauce Heavy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840608" y="413730"/>
            <a:ext cx="347251" cy="347251"/>
          </a:xfrm>
          <a:custGeom>
            <a:avLst/>
            <a:gdLst/>
            <a:ahLst/>
            <a:cxnLst/>
            <a:rect l="l" t="t" r="r" b="b"/>
            <a:pathLst>
              <a:path w="347251" h="347251">
                <a:moveTo>
                  <a:pt x="0" y="0"/>
                </a:moveTo>
                <a:lnTo>
                  <a:pt x="347251" y="0"/>
                </a:lnTo>
                <a:lnTo>
                  <a:pt x="347251" y="347251"/>
                </a:lnTo>
                <a:lnTo>
                  <a:pt x="0" y="3472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6982967" y="400502"/>
            <a:ext cx="1305033" cy="333097"/>
            <a:chOff x="0" y="0"/>
            <a:chExt cx="343712" cy="877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3712" cy="87729"/>
            </a:xfrm>
            <a:custGeom>
              <a:avLst/>
              <a:gdLst/>
              <a:ahLst/>
              <a:cxnLst/>
              <a:rect l="l" t="t" r="r" b="b"/>
              <a:pathLst>
                <a:path w="343712" h="87729">
                  <a:moveTo>
                    <a:pt x="0" y="0"/>
                  </a:moveTo>
                  <a:lnTo>
                    <a:pt x="343712" y="0"/>
                  </a:lnTo>
                  <a:lnTo>
                    <a:pt x="343712" y="87729"/>
                  </a:lnTo>
                  <a:lnTo>
                    <a:pt x="0" y="87729"/>
                  </a:lnTo>
                  <a:close/>
                </a:path>
              </a:pathLst>
            </a:custGeom>
            <a:gradFill rotWithShape="1">
              <a:gsLst>
                <a:gs pos="0">
                  <a:srgbClr val="4E69B1">
                    <a:alpha val="100000"/>
                  </a:srgbClr>
                </a:gs>
                <a:gs pos="100000">
                  <a:srgbClr val="15122A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43712" cy="1258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-7607709" y="-1481982"/>
            <a:ext cx="14774614" cy="12601514"/>
          </a:xfrm>
          <a:custGeom>
            <a:avLst/>
            <a:gdLst/>
            <a:ahLst/>
            <a:cxnLst/>
            <a:rect l="l" t="t" r="r" b="b"/>
            <a:pathLst>
              <a:path w="14774614" h="126015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67670" y="3919462"/>
            <a:ext cx="16352660" cy="4596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just">
              <a:lnSpc>
                <a:spcPts val="3360"/>
              </a:lnSpc>
              <a:buFont typeface="Arial" panose="020B0604020202090204"/>
              <a:buChar char="•"/>
            </a:pP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Problem Analyzer: Uses a locally hosted Qwen2.5-7B-Instruct (Ollama) model to convert natural-language problem statements into structured computational metadata.</a:t>
            </a:r>
            <a:endParaRPr lang="en-US" sz="2400" spc="79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marL="518160" lvl="1" indent="-259080" algn="just">
              <a:lnSpc>
                <a:spcPts val="3360"/>
              </a:lnSpc>
              <a:buFont typeface="Arial" panose="020B0604020202090204"/>
              <a:buChar char="•"/>
            </a:pP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Algorithm Selection Agent: Identifies the problem type and recommends the most suitable classical (SVM, Random Forest, XGBoost) or quantum (QAOA, VQE, QSVM) algorithms.</a:t>
            </a:r>
            <a:endParaRPr lang="en-US" sz="2400" spc="79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marL="518160" lvl="1" indent="-259080" algn="just">
              <a:lnSpc>
                <a:spcPts val="3360"/>
              </a:lnSpc>
              <a:buFont typeface="Arial" panose="020B0604020202090204"/>
              <a:buChar char="•"/>
            </a:pP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Exec</a:t>
            </a: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ution Plan Generator: Produces a standardized JSON execution contract containing algorithm choice, parameters, constraints, and hardware requirements.</a:t>
            </a:r>
            <a:endParaRPr lang="en-US" sz="2400" spc="79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marL="518160" lvl="1" indent="-259080" algn="just">
              <a:lnSpc>
                <a:spcPts val="3360"/>
              </a:lnSpc>
              <a:buFont typeface="Arial" panose="020B0604020202090204"/>
              <a:buChar char="•"/>
            </a:pP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Runtime Critic Agent: Monitors execution logs and performance metrics to detect failures, memory constraints, or slow convergence during execution.</a:t>
            </a:r>
            <a:endParaRPr lang="en-US" sz="2400" spc="79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marL="518160" lvl="1" indent="-259080" algn="just">
              <a:lnSpc>
                <a:spcPts val="3360"/>
              </a:lnSpc>
              <a:buFont typeface="Arial" panose="020B0604020202090204"/>
              <a:buChar char="•"/>
            </a:pP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Adaptive Decision Loop: Refines execution parameters or switches algorithm candidates based on runtime feedback before re-submitting the execution plan to the HPC backend.</a:t>
            </a:r>
            <a:endParaRPr lang="en-US" sz="2400" spc="79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algn="just">
              <a:lnSpc>
                <a:spcPts val="3360"/>
              </a:lnSpc>
            </a:pPr>
          </a:p>
        </p:txBody>
      </p:sp>
      <p:sp>
        <p:nvSpPr>
          <p:cNvPr id="7" name="Freeform 7"/>
          <p:cNvSpPr/>
          <p:nvPr/>
        </p:nvSpPr>
        <p:spPr>
          <a:xfrm>
            <a:off x="10386026" y="6423577"/>
            <a:ext cx="13746548" cy="8229600"/>
          </a:xfrm>
          <a:custGeom>
            <a:avLst/>
            <a:gdLst/>
            <a:ahLst/>
            <a:cxnLst/>
            <a:rect l="l" t="t" r="r" b="b"/>
            <a:pathLst>
              <a:path w="13746548" h="8229600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604462" y="412429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Home</a:t>
            </a:r>
            <a:endParaRPr lang="en-US" sz="1700" spc="3">
              <a:solidFill>
                <a:srgbClr val="FFFFFF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447986" y="432733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Abstract</a:t>
            </a:r>
            <a:endParaRPr lang="en-US" sz="1700" spc="3">
              <a:solidFill>
                <a:srgbClr val="FFFFFF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291511" y="412429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Content</a:t>
            </a:r>
            <a:endParaRPr lang="en-US" sz="1700" b="1" spc="3">
              <a:solidFill>
                <a:srgbClr val="FFFFFF"/>
              </a:solidFill>
              <a:latin typeface="Open Sauce Heavy"/>
              <a:ea typeface="Open Sauce Heavy"/>
              <a:cs typeface="Open Sauce Heavy"/>
              <a:sym typeface="Open Sauce Heavy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5135036" y="412429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Others</a:t>
            </a:r>
            <a:endParaRPr lang="en-US" sz="1700" spc="3">
              <a:solidFill>
                <a:srgbClr val="FFFFFF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102301" y="1732176"/>
            <a:ext cx="6083399" cy="986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705"/>
              </a:lnSpc>
            </a:pPr>
            <a:r>
              <a:rPr lang="en-US" sz="6640" b="1" spc="-3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Agent Layer</a:t>
            </a:r>
            <a:endParaRPr lang="en-US" sz="6640" b="1" spc="-312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81938" y="432733"/>
            <a:ext cx="2753652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80"/>
              </a:lnSpc>
              <a:spcBef>
                <a:spcPct val="0"/>
              </a:spcBef>
            </a:pPr>
            <a:r>
              <a:rPr lang="en-US" sz="1700" b="1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Q-HPC</a:t>
            </a:r>
            <a:endParaRPr lang="en-US" sz="1700" b="1" spc="3">
              <a:solidFill>
                <a:srgbClr val="FFFFFF"/>
              </a:solidFill>
              <a:latin typeface="Open Sauce Heavy"/>
              <a:ea typeface="Open Sauce Heavy"/>
              <a:cs typeface="Open Sauce Heavy"/>
              <a:sym typeface="Open Sauce Heavy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840608" y="413730"/>
            <a:ext cx="347251" cy="347251"/>
          </a:xfrm>
          <a:custGeom>
            <a:avLst/>
            <a:gdLst/>
            <a:ahLst/>
            <a:cxnLst/>
            <a:rect l="l" t="t" r="r" b="b"/>
            <a:pathLst>
              <a:path w="347251" h="347251">
                <a:moveTo>
                  <a:pt x="0" y="0"/>
                </a:moveTo>
                <a:lnTo>
                  <a:pt x="347251" y="0"/>
                </a:lnTo>
                <a:lnTo>
                  <a:pt x="347251" y="347251"/>
                </a:lnTo>
                <a:lnTo>
                  <a:pt x="0" y="3472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6982967" y="400502"/>
            <a:ext cx="1305033" cy="333097"/>
            <a:chOff x="0" y="0"/>
            <a:chExt cx="343712" cy="877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3712" cy="87729"/>
            </a:xfrm>
            <a:custGeom>
              <a:avLst/>
              <a:gdLst/>
              <a:ahLst/>
              <a:cxnLst/>
              <a:rect l="l" t="t" r="r" b="b"/>
              <a:pathLst>
                <a:path w="343712" h="87729">
                  <a:moveTo>
                    <a:pt x="0" y="0"/>
                  </a:moveTo>
                  <a:lnTo>
                    <a:pt x="343712" y="0"/>
                  </a:lnTo>
                  <a:lnTo>
                    <a:pt x="343712" y="87729"/>
                  </a:lnTo>
                  <a:lnTo>
                    <a:pt x="0" y="87729"/>
                  </a:lnTo>
                  <a:close/>
                </a:path>
              </a:pathLst>
            </a:custGeom>
            <a:gradFill rotWithShape="1">
              <a:gsLst>
                <a:gs pos="0">
                  <a:srgbClr val="4E69B1">
                    <a:alpha val="100000"/>
                  </a:srgbClr>
                </a:gs>
                <a:gs pos="100000">
                  <a:srgbClr val="15122A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43712" cy="1258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-7607709" y="-1481982"/>
            <a:ext cx="14774614" cy="12601514"/>
          </a:xfrm>
          <a:custGeom>
            <a:avLst/>
            <a:gdLst/>
            <a:ahLst/>
            <a:cxnLst/>
            <a:rect l="l" t="t" r="r" b="b"/>
            <a:pathLst>
              <a:path w="14774614" h="126015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67670" y="3919462"/>
            <a:ext cx="16352660" cy="4308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just">
              <a:lnSpc>
                <a:spcPts val="3360"/>
              </a:lnSpc>
              <a:buFont typeface="Arial" panose="020B0604020202090204"/>
              <a:buChar char="•"/>
            </a:pP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Utilizes CUDA-enabled GPUs to accelerate computationally intensive quantum simulation workloads on a single node.</a:t>
            </a:r>
            <a:endParaRPr lang="en-US" sz="2400" spc="79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marL="518160" lvl="1" indent="-259080" algn="just">
              <a:lnSpc>
                <a:spcPts val="3360"/>
              </a:lnSpc>
              <a:buFont typeface="Arial" panose="020B0604020202090204"/>
              <a:buChar char="•"/>
            </a:pP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Integrates Qiskit Aer GPU backend for faster state vector simulation compared to CPU-only execution for compatible workloads.</a:t>
            </a:r>
            <a:endParaRPr lang="en-US" sz="2400" spc="79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marL="518160" lvl="1" indent="-259080" algn="just">
              <a:lnSpc>
                <a:spcPts val="3360"/>
              </a:lnSpc>
              <a:buFont typeface="Arial" panose="020B0604020202090204"/>
              <a:buChar char="•"/>
            </a:pP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Exec</a:t>
            </a: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utes parallel matrix and tensor operations efficiently using the GPU's massively parallel architecture.</a:t>
            </a:r>
            <a:endParaRPr lang="en-US" sz="2400" spc="79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marL="518160" lvl="1" indent="-259080" algn="just">
              <a:lnSpc>
                <a:spcPts val="3360"/>
              </a:lnSpc>
              <a:buFont typeface="Arial" panose="020B0604020202090204"/>
              <a:buChar char="•"/>
            </a:pP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Supports large-scale quantum circuit simulation within the memory limits of a single GPU device.</a:t>
            </a:r>
            <a:endParaRPr lang="en-US" sz="2400" spc="79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marL="518160" lvl="1" indent="-259080" algn="just">
              <a:lnSpc>
                <a:spcPts val="3360"/>
              </a:lnSpc>
              <a:buFont typeface="Arial" panose="020B0604020202090204"/>
              <a:buChar char="•"/>
            </a:pP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Ser</a:t>
            </a: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ves as the preferred execution backend when the Resource Estimator identifies GPU execution as the most suitable option.</a:t>
            </a:r>
            <a:endParaRPr lang="en-US" sz="2400" spc="79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algn="just">
              <a:lnSpc>
                <a:spcPts val="3360"/>
              </a:lnSpc>
            </a:pPr>
          </a:p>
        </p:txBody>
      </p:sp>
      <p:sp>
        <p:nvSpPr>
          <p:cNvPr id="7" name="Freeform 7"/>
          <p:cNvSpPr/>
          <p:nvPr/>
        </p:nvSpPr>
        <p:spPr>
          <a:xfrm>
            <a:off x="10386026" y="6423577"/>
            <a:ext cx="13746548" cy="8229600"/>
          </a:xfrm>
          <a:custGeom>
            <a:avLst/>
            <a:gdLst/>
            <a:ahLst/>
            <a:cxnLst/>
            <a:rect l="l" t="t" r="r" b="b"/>
            <a:pathLst>
              <a:path w="13746548" h="8229600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604462" y="412429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Home</a:t>
            </a:r>
            <a:endParaRPr lang="en-US" sz="1700" spc="3">
              <a:solidFill>
                <a:srgbClr val="FFFFFF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447986" y="432733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Abstract</a:t>
            </a:r>
            <a:endParaRPr lang="en-US" sz="1700" spc="3">
              <a:solidFill>
                <a:srgbClr val="FFFFFF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291511" y="412429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Content</a:t>
            </a:r>
            <a:endParaRPr lang="en-US" sz="1700" b="1" spc="3">
              <a:solidFill>
                <a:srgbClr val="FFFFFF"/>
              </a:solidFill>
              <a:latin typeface="Open Sauce Heavy"/>
              <a:ea typeface="Open Sauce Heavy"/>
              <a:cs typeface="Open Sauce Heavy"/>
              <a:sym typeface="Open Sauce Heavy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5135036" y="412429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Others</a:t>
            </a:r>
            <a:endParaRPr lang="en-US" sz="1700" spc="3">
              <a:solidFill>
                <a:srgbClr val="FFFFFF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659416" y="1732176"/>
            <a:ext cx="14969169" cy="986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705"/>
              </a:lnSpc>
            </a:pPr>
            <a:r>
              <a:rPr lang="en-US" sz="6640" b="1" spc="-3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HPC Engine - CUDA Implementation </a:t>
            </a:r>
            <a:endParaRPr lang="en-US" sz="6640" b="1" spc="-312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81938" y="432733"/>
            <a:ext cx="2753652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80"/>
              </a:lnSpc>
              <a:spcBef>
                <a:spcPct val="0"/>
              </a:spcBef>
            </a:pPr>
            <a:r>
              <a:rPr lang="en-US" sz="1700" b="1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Q-HPC</a:t>
            </a:r>
            <a:endParaRPr lang="en-US" sz="1700" b="1" spc="3">
              <a:solidFill>
                <a:srgbClr val="FFFFFF"/>
              </a:solidFill>
              <a:latin typeface="Open Sauce Heavy"/>
              <a:ea typeface="Open Sauce Heavy"/>
              <a:cs typeface="Open Sauce Heavy"/>
              <a:sym typeface="Open Sauce Heavy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840608" y="413730"/>
            <a:ext cx="347251" cy="347251"/>
          </a:xfrm>
          <a:custGeom>
            <a:avLst/>
            <a:gdLst/>
            <a:ahLst/>
            <a:cxnLst/>
            <a:rect l="l" t="t" r="r" b="b"/>
            <a:pathLst>
              <a:path w="347251" h="347251">
                <a:moveTo>
                  <a:pt x="0" y="0"/>
                </a:moveTo>
                <a:lnTo>
                  <a:pt x="347251" y="0"/>
                </a:lnTo>
                <a:lnTo>
                  <a:pt x="347251" y="347251"/>
                </a:lnTo>
                <a:lnTo>
                  <a:pt x="0" y="3472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6982967" y="400502"/>
            <a:ext cx="1305033" cy="333097"/>
            <a:chOff x="0" y="0"/>
            <a:chExt cx="343712" cy="877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3712" cy="87729"/>
            </a:xfrm>
            <a:custGeom>
              <a:avLst/>
              <a:gdLst/>
              <a:ahLst/>
              <a:cxnLst/>
              <a:rect l="l" t="t" r="r" b="b"/>
              <a:pathLst>
                <a:path w="343712" h="87729">
                  <a:moveTo>
                    <a:pt x="0" y="0"/>
                  </a:moveTo>
                  <a:lnTo>
                    <a:pt x="343712" y="0"/>
                  </a:lnTo>
                  <a:lnTo>
                    <a:pt x="343712" y="87729"/>
                  </a:lnTo>
                  <a:lnTo>
                    <a:pt x="0" y="87729"/>
                  </a:lnTo>
                  <a:close/>
                </a:path>
              </a:pathLst>
            </a:custGeom>
            <a:gradFill rotWithShape="1">
              <a:gsLst>
                <a:gs pos="0">
                  <a:srgbClr val="4E69B1">
                    <a:alpha val="100000"/>
                  </a:srgbClr>
                </a:gs>
                <a:gs pos="100000">
                  <a:srgbClr val="15122A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43712" cy="1258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-7607709" y="-1481982"/>
            <a:ext cx="14774614" cy="12601514"/>
          </a:xfrm>
          <a:custGeom>
            <a:avLst/>
            <a:gdLst/>
            <a:ahLst/>
            <a:cxnLst/>
            <a:rect l="l" t="t" r="r" b="b"/>
            <a:pathLst>
              <a:path w="14774614" h="126015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67670" y="3919462"/>
            <a:ext cx="16352660" cy="4596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just">
              <a:lnSpc>
                <a:spcPts val="3360"/>
              </a:lnSpc>
              <a:buFont typeface="Arial" panose="020B0604020202090204"/>
              <a:buChar char="•"/>
            </a:pP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MPI-based distributed execution enables quantum simulations to scale beyond the memory limits of a single CPU or GPU node.</a:t>
            </a:r>
            <a:endParaRPr lang="en-US" sz="2400" spc="79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marL="518160" lvl="1" indent="-259080" algn="just">
              <a:lnSpc>
                <a:spcPts val="3360"/>
              </a:lnSpc>
              <a:buFont typeface="Arial" panose="020B0604020202090204"/>
              <a:buChar char="•"/>
            </a:pP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Large qua</a:t>
            </a: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ntum state vectors are partitioned across multiple cluster nodes, allowing each node to process a portion of the computation.</a:t>
            </a:r>
            <a:endParaRPr lang="en-US" sz="2400" spc="79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marL="518160" lvl="1" indent="-259080" algn="just">
              <a:lnSpc>
                <a:spcPts val="3360"/>
              </a:lnSpc>
              <a:buFont typeface="Arial" panose="020B0604020202090204"/>
              <a:buChar char="•"/>
            </a:pP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Parallel execution across multiple MPI ranks improves scalability and resource utilization for high-dimensional workloads.</a:t>
            </a:r>
            <a:endParaRPr lang="en-US" sz="2400" spc="79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marL="518160" lvl="1" indent="-259080" algn="just">
              <a:lnSpc>
                <a:spcPts val="3360"/>
              </a:lnSpc>
              <a:buFont typeface="Arial" panose="020B0604020202090204"/>
              <a:buChar char="•"/>
            </a:pP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Collec</a:t>
            </a: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tive communication and synchronization combine intermediate results during distributed quantum computations.</a:t>
            </a:r>
            <a:endParaRPr lang="en-US" sz="2400" spc="79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marL="518160" lvl="1" indent="-259080" algn="just">
              <a:lnSpc>
                <a:spcPts val="3360"/>
              </a:lnSpc>
              <a:buFont typeface="Arial" panose="020B0604020202090204"/>
              <a:buChar char="•"/>
            </a:pP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The distributed backend is selected automatically when the Resource Estimator predicts that a workload exceeds single-node resource capacity.</a:t>
            </a:r>
            <a:endParaRPr lang="en-US" sz="2400" spc="79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algn="just">
              <a:lnSpc>
                <a:spcPts val="3360"/>
              </a:lnSpc>
            </a:pPr>
          </a:p>
        </p:txBody>
      </p:sp>
      <p:sp>
        <p:nvSpPr>
          <p:cNvPr id="7" name="Freeform 7"/>
          <p:cNvSpPr/>
          <p:nvPr/>
        </p:nvSpPr>
        <p:spPr>
          <a:xfrm>
            <a:off x="10386026" y="6423577"/>
            <a:ext cx="13746548" cy="8229600"/>
          </a:xfrm>
          <a:custGeom>
            <a:avLst/>
            <a:gdLst/>
            <a:ahLst/>
            <a:cxnLst/>
            <a:rect l="l" t="t" r="r" b="b"/>
            <a:pathLst>
              <a:path w="13746548" h="8229600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604462" y="412429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Home</a:t>
            </a:r>
            <a:endParaRPr lang="en-US" sz="1700" spc="3">
              <a:solidFill>
                <a:srgbClr val="FFFFFF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447986" y="432733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Abstract</a:t>
            </a:r>
            <a:endParaRPr lang="en-US" sz="1700" spc="3">
              <a:solidFill>
                <a:srgbClr val="FFFFFF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291511" y="412429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Content</a:t>
            </a:r>
            <a:endParaRPr lang="en-US" sz="1700" b="1" spc="3">
              <a:solidFill>
                <a:srgbClr val="FFFFFF"/>
              </a:solidFill>
              <a:latin typeface="Open Sauce Heavy"/>
              <a:ea typeface="Open Sauce Heavy"/>
              <a:cs typeface="Open Sauce Heavy"/>
              <a:sym typeface="Open Sauce Heavy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5135036" y="412429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Others</a:t>
            </a:r>
            <a:endParaRPr lang="en-US" sz="1700" spc="3">
              <a:solidFill>
                <a:srgbClr val="FFFFFF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100833" y="1732176"/>
            <a:ext cx="14086334" cy="986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705"/>
              </a:lnSpc>
            </a:pPr>
            <a:r>
              <a:rPr lang="en-US" sz="6640" b="1" spc="-3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HPC Engine - MPI Implementation </a:t>
            </a:r>
            <a:endParaRPr lang="en-US" sz="6640" b="1" spc="-312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81938" y="432733"/>
            <a:ext cx="2753652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80"/>
              </a:lnSpc>
              <a:spcBef>
                <a:spcPct val="0"/>
              </a:spcBef>
            </a:pPr>
            <a:r>
              <a:rPr lang="en-US" sz="1700" b="1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Q-HPC</a:t>
            </a:r>
            <a:endParaRPr lang="en-US" sz="1700" b="1" spc="3">
              <a:solidFill>
                <a:srgbClr val="FFFFFF"/>
              </a:solidFill>
              <a:latin typeface="Open Sauce Heavy"/>
              <a:ea typeface="Open Sauce Heavy"/>
              <a:cs typeface="Open Sauce Heavy"/>
              <a:sym typeface="Open Sauce Heavy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840608" y="413730"/>
            <a:ext cx="347251" cy="347251"/>
          </a:xfrm>
          <a:custGeom>
            <a:avLst/>
            <a:gdLst/>
            <a:ahLst/>
            <a:cxnLst/>
            <a:rect l="l" t="t" r="r" b="b"/>
            <a:pathLst>
              <a:path w="347251" h="347251">
                <a:moveTo>
                  <a:pt x="0" y="0"/>
                </a:moveTo>
                <a:lnTo>
                  <a:pt x="347251" y="0"/>
                </a:lnTo>
                <a:lnTo>
                  <a:pt x="347251" y="347251"/>
                </a:lnTo>
                <a:lnTo>
                  <a:pt x="0" y="3472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6982967" y="400502"/>
            <a:ext cx="1305033" cy="333097"/>
            <a:chOff x="0" y="0"/>
            <a:chExt cx="343712" cy="877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3712" cy="87729"/>
            </a:xfrm>
            <a:custGeom>
              <a:avLst/>
              <a:gdLst/>
              <a:ahLst/>
              <a:cxnLst/>
              <a:rect l="l" t="t" r="r" b="b"/>
              <a:pathLst>
                <a:path w="343712" h="87729">
                  <a:moveTo>
                    <a:pt x="0" y="0"/>
                  </a:moveTo>
                  <a:lnTo>
                    <a:pt x="343712" y="0"/>
                  </a:lnTo>
                  <a:lnTo>
                    <a:pt x="343712" y="87729"/>
                  </a:lnTo>
                  <a:lnTo>
                    <a:pt x="0" y="87729"/>
                  </a:lnTo>
                  <a:close/>
                </a:path>
              </a:pathLst>
            </a:custGeom>
            <a:gradFill rotWithShape="1">
              <a:gsLst>
                <a:gs pos="0">
                  <a:srgbClr val="4E69B1">
                    <a:alpha val="100000"/>
                  </a:srgbClr>
                </a:gs>
                <a:gs pos="100000">
                  <a:srgbClr val="15122A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43712" cy="1258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-7607709" y="-1481982"/>
            <a:ext cx="14774614" cy="12601514"/>
          </a:xfrm>
          <a:custGeom>
            <a:avLst/>
            <a:gdLst/>
            <a:ahLst/>
            <a:cxnLst/>
            <a:rect l="l" t="t" r="r" b="b"/>
            <a:pathLst>
              <a:path w="14774614" h="126015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67670" y="3919462"/>
            <a:ext cx="16352660" cy="4739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just">
              <a:lnSpc>
                <a:spcPts val="3360"/>
              </a:lnSpc>
              <a:buFont typeface="Arial" panose="020B0604020202090204"/>
              <a:buChar char="•"/>
            </a:pP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Binds one MPI rank per GPU device to coordinate inter-node scaling with intra-node CUDA compute density.</a:t>
            </a:r>
            <a:endParaRPr lang="en-US" sz="2400" spc="79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marL="518160" lvl="1" indent="-259080" algn="just">
              <a:lnSpc>
                <a:spcPts val="3360"/>
              </a:lnSpc>
              <a:buFont typeface="Arial" panose="020B0604020202090204"/>
              <a:buChar char="•"/>
            </a:pP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The Resource</a:t>
            </a: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Estimator auto-generates cluster launch commands (e.g., mpirun -n &lt;ranks&gt; with GPU flags) from the LLM contract.</a:t>
            </a:r>
            <a:endParaRPr lang="en-US" sz="2400" spc="79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marL="518160" lvl="1" indent="-259080" algn="just">
              <a:lnSpc>
                <a:spcPts val="3360"/>
              </a:lnSpc>
              <a:buFont typeface="Arial" panose="020B0604020202090204"/>
              <a:buChar char="•"/>
            </a:pP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Intercepts h</a:t>
            </a: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ardware-level anomalies (such as Out-of-Memory faults or slow convergence) before complete job failure occurs.</a:t>
            </a:r>
            <a:endParaRPr lang="en-US" sz="2400" spc="79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marL="518160" lvl="1" indent="-259080" algn="just">
              <a:lnSpc>
                <a:spcPts val="3360"/>
              </a:lnSpc>
              <a:buFont typeface="Arial" panose="020B0604020202090204"/>
              <a:buChar char="•"/>
            </a:pP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The Cri</a:t>
            </a: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tic parses error telemetry and requests increased MPI node allocations or alternative algorithm representations.</a:t>
            </a:r>
            <a:endParaRPr lang="en-US" sz="2400" spc="79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marL="518160" lvl="1" indent="-259080" algn="just">
              <a:lnSpc>
                <a:spcPts val="3360"/>
              </a:lnSpc>
              <a:buFont typeface="Arial" panose="020B0604020202090204"/>
              <a:buChar char="•"/>
            </a:pP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</a:t>
            </a: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reates a self healing computational workflow that functions without manual human intervention between experiment runs.</a:t>
            </a:r>
            <a:endParaRPr lang="en-US" sz="2400" spc="79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algn="just">
              <a:lnSpc>
                <a:spcPts val="3360"/>
              </a:lnSpc>
            </a:pPr>
          </a:p>
        </p:txBody>
      </p:sp>
      <p:sp>
        <p:nvSpPr>
          <p:cNvPr id="7" name="Freeform 7"/>
          <p:cNvSpPr/>
          <p:nvPr/>
        </p:nvSpPr>
        <p:spPr>
          <a:xfrm>
            <a:off x="10447056" y="7334890"/>
            <a:ext cx="13746548" cy="8229600"/>
          </a:xfrm>
          <a:custGeom>
            <a:avLst/>
            <a:gdLst/>
            <a:ahLst/>
            <a:cxnLst/>
            <a:rect l="l" t="t" r="r" b="b"/>
            <a:pathLst>
              <a:path w="13746548" h="8229600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604462" y="412429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Home</a:t>
            </a:r>
            <a:endParaRPr lang="en-US" sz="1700" spc="3">
              <a:solidFill>
                <a:srgbClr val="FFFFFF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447986" y="432733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Abstract</a:t>
            </a:r>
            <a:endParaRPr lang="en-US" sz="1700" spc="3">
              <a:solidFill>
                <a:srgbClr val="FFFFFF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291511" y="412429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Content</a:t>
            </a:r>
            <a:endParaRPr lang="en-US" sz="1700" b="1" spc="3">
              <a:solidFill>
                <a:srgbClr val="FFFFFF"/>
              </a:solidFill>
              <a:latin typeface="Open Sauce Heavy"/>
              <a:ea typeface="Open Sauce Heavy"/>
              <a:cs typeface="Open Sauce Heavy"/>
              <a:sym typeface="Open Sauce Heavy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5135036" y="412429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Others</a:t>
            </a:r>
            <a:endParaRPr lang="en-US" sz="1700" spc="3">
              <a:solidFill>
                <a:srgbClr val="FFFFFF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243842" y="1732176"/>
            <a:ext cx="9800316" cy="986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705"/>
              </a:lnSpc>
            </a:pPr>
            <a:r>
              <a:rPr lang="en-US" sz="6640" b="1" spc="-3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Closed Loop Integration</a:t>
            </a:r>
            <a:endParaRPr lang="en-US" sz="6640" b="1" spc="-312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81938" y="432733"/>
            <a:ext cx="2753652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80"/>
              </a:lnSpc>
              <a:spcBef>
                <a:spcPct val="0"/>
              </a:spcBef>
            </a:pPr>
            <a:r>
              <a:rPr lang="en-US" sz="1700" b="1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Q-HPC</a:t>
            </a:r>
            <a:endParaRPr lang="en-US" sz="1700" b="1" spc="3">
              <a:solidFill>
                <a:srgbClr val="FFFFFF"/>
              </a:solidFill>
              <a:latin typeface="Open Sauce Heavy"/>
              <a:ea typeface="Open Sauce Heavy"/>
              <a:cs typeface="Open Sauce Heavy"/>
              <a:sym typeface="Open Sauce Heavy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840608" y="413730"/>
            <a:ext cx="347251" cy="347251"/>
          </a:xfrm>
          <a:custGeom>
            <a:avLst/>
            <a:gdLst/>
            <a:ahLst/>
            <a:cxnLst/>
            <a:rect l="l" t="t" r="r" b="b"/>
            <a:pathLst>
              <a:path w="347251" h="347251">
                <a:moveTo>
                  <a:pt x="0" y="0"/>
                </a:moveTo>
                <a:lnTo>
                  <a:pt x="347251" y="0"/>
                </a:lnTo>
                <a:lnTo>
                  <a:pt x="347251" y="347251"/>
                </a:lnTo>
                <a:lnTo>
                  <a:pt x="0" y="3472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6982967" y="400502"/>
            <a:ext cx="1305033" cy="333097"/>
            <a:chOff x="0" y="0"/>
            <a:chExt cx="343712" cy="877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3712" cy="87729"/>
            </a:xfrm>
            <a:custGeom>
              <a:avLst/>
              <a:gdLst/>
              <a:ahLst/>
              <a:cxnLst/>
              <a:rect l="l" t="t" r="r" b="b"/>
              <a:pathLst>
                <a:path w="343712" h="87729">
                  <a:moveTo>
                    <a:pt x="0" y="0"/>
                  </a:moveTo>
                  <a:lnTo>
                    <a:pt x="343712" y="0"/>
                  </a:lnTo>
                  <a:lnTo>
                    <a:pt x="343712" y="87729"/>
                  </a:lnTo>
                  <a:lnTo>
                    <a:pt x="0" y="87729"/>
                  </a:lnTo>
                  <a:close/>
                </a:path>
              </a:pathLst>
            </a:custGeom>
            <a:gradFill rotWithShape="1">
              <a:gsLst>
                <a:gs pos="0">
                  <a:srgbClr val="4E69B1">
                    <a:alpha val="100000"/>
                  </a:srgbClr>
                </a:gs>
                <a:gs pos="100000">
                  <a:srgbClr val="15122A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43712" cy="1258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-7607709" y="-1481982"/>
            <a:ext cx="14774614" cy="12601514"/>
          </a:xfrm>
          <a:custGeom>
            <a:avLst/>
            <a:gdLst/>
            <a:ahLst/>
            <a:cxnLst/>
            <a:rect l="l" t="t" r="r" b="b"/>
            <a:pathLst>
              <a:path w="14774614" h="126015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935340" y="4771150"/>
            <a:ext cx="16352660" cy="250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just">
              <a:lnSpc>
                <a:spcPts val="3360"/>
              </a:lnSpc>
              <a:buFont typeface="Arial" panose="020B0604020202090204"/>
              <a:buChar char="•"/>
            </a:pP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Successful conversion of natural language problems into validated JSON execution plans.</a:t>
            </a:r>
            <a:endParaRPr lang="en-US" sz="2400" spc="79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marL="518160" lvl="1" indent="-259080" algn="just">
              <a:lnSpc>
                <a:spcPts val="3360"/>
              </a:lnSpc>
              <a:buFont typeface="Arial" panose="020B0604020202090204"/>
              <a:buChar char="•"/>
            </a:pP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Au</a:t>
            </a: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tomated recommendation of classical or quantum algorithm candidates.</a:t>
            </a:r>
            <a:endParaRPr lang="en-US" sz="2400" spc="79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marL="518160" lvl="1" indent="-259080" algn="just">
              <a:lnSpc>
                <a:spcPts val="3360"/>
              </a:lnSpc>
              <a:buFont typeface="Arial" panose="020B0604020202090204"/>
              <a:buChar char="•"/>
            </a:pP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Resource </a:t>
            </a: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estimation for CPU, GPU, and MPI execution targets.</a:t>
            </a:r>
            <a:endParaRPr lang="en-US" sz="2400" spc="79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marL="518160" lvl="1" indent="-259080" algn="just">
              <a:lnSpc>
                <a:spcPts val="3360"/>
              </a:lnSpc>
              <a:buFont typeface="Arial" panose="020B0604020202090204"/>
              <a:buChar char="•"/>
            </a:pP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Run</a:t>
            </a: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time-aware feedback capable of suggesting alternate execution strategies.</a:t>
            </a:r>
            <a:endParaRPr lang="en-US" sz="2400" spc="79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marL="518160" lvl="1" indent="-259080" algn="just">
              <a:lnSpc>
                <a:spcPts val="3360"/>
              </a:lnSpc>
              <a:buFont typeface="Arial" panose="020B0604020202090204"/>
              <a:buChar char="•"/>
            </a:pP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Futu</a:t>
            </a:r>
            <a:r>
              <a:rPr lang="en-US" sz="2400" spc="7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 integration with SLURM schedulers and real quantum processing units.</a:t>
            </a:r>
            <a:endParaRPr lang="en-US" sz="2400" spc="79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  <a:p>
            <a:pPr algn="just">
              <a:lnSpc>
                <a:spcPts val="3360"/>
              </a:lnSpc>
            </a:pPr>
          </a:p>
        </p:txBody>
      </p:sp>
      <p:sp>
        <p:nvSpPr>
          <p:cNvPr id="7" name="Freeform 7"/>
          <p:cNvSpPr/>
          <p:nvPr/>
        </p:nvSpPr>
        <p:spPr>
          <a:xfrm>
            <a:off x="10447056" y="7334890"/>
            <a:ext cx="13746548" cy="8229600"/>
          </a:xfrm>
          <a:custGeom>
            <a:avLst/>
            <a:gdLst/>
            <a:ahLst/>
            <a:cxnLst/>
            <a:rect l="l" t="t" r="r" b="b"/>
            <a:pathLst>
              <a:path w="13746548" h="8229600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604462" y="412429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Home</a:t>
            </a:r>
            <a:endParaRPr lang="en-US" sz="1700" spc="3">
              <a:solidFill>
                <a:srgbClr val="FFFFFF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447986" y="432733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Abstract</a:t>
            </a:r>
            <a:endParaRPr lang="en-US" sz="1700" spc="3">
              <a:solidFill>
                <a:srgbClr val="FFFFFF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291511" y="412429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Content</a:t>
            </a:r>
            <a:endParaRPr lang="en-US" sz="1700" b="1" spc="3">
              <a:solidFill>
                <a:srgbClr val="FFFFFF"/>
              </a:solidFill>
              <a:latin typeface="Open Sauce Heavy"/>
              <a:ea typeface="Open Sauce Heavy"/>
              <a:cs typeface="Open Sauce Heavy"/>
              <a:sym typeface="Open Sauce Heavy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5135036" y="412429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Others</a:t>
            </a:r>
            <a:endParaRPr lang="en-US" sz="1700" spc="3">
              <a:solidFill>
                <a:srgbClr val="FFFFFF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830904" y="2928274"/>
            <a:ext cx="10626193" cy="986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705"/>
              </a:lnSpc>
            </a:pPr>
            <a:r>
              <a:rPr lang="en-US" sz="6640" b="1" spc="-3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Expected MVP Outcomes </a:t>
            </a:r>
            <a:endParaRPr lang="en-US" sz="6640" b="1" spc="-312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81938" y="432733"/>
            <a:ext cx="2753652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80"/>
              </a:lnSpc>
              <a:spcBef>
                <a:spcPct val="0"/>
              </a:spcBef>
            </a:pPr>
            <a:r>
              <a:rPr lang="en-US" sz="1700" b="1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Q-HPC</a:t>
            </a:r>
            <a:endParaRPr lang="en-US" sz="1700" b="1" spc="3">
              <a:solidFill>
                <a:srgbClr val="FFFFFF"/>
              </a:solidFill>
              <a:latin typeface="Open Sauce Heavy"/>
              <a:ea typeface="Open Sauce Heavy"/>
              <a:cs typeface="Open Sauce Heavy"/>
              <a:sym typeface="Open Sauce Heavy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840608" y="413730"/>
            <a:ext cx="347251" cy="347251"/>
          </a:xfrm>
          <a:custGeom>
            <a:avLst/>
            <a:gdLst/>
            <a:ahLst/>
            <a:cxnLst/>
            <a:rect l="l" t="t" r="r" b="b"/>
            <a:pathLst>
              <a:path w="347251" h="347251">
                <a:moveTo>
                  <a:pt x="0" y="0"/>
                </a:moveTo>
                <a:lnTo>
                  <a:pt x="347251" y="0"/>
                </a:lnTo>
                <a:lnTo>
                  <a:pt x="347251" y="347251"/>
                </a:lnTo>
                <a:lnTo>
                  <a:pt x="0" y="3472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6982967" y="400502"/>
            <a:ext cx="1305033" cy="333097"/>
            <a:chOff x="0" y="0"/>
            <a:chExt cx="343712" cy="877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3712" cy="87729"/>
            </a:xfrm>
            <a:custGeom>
              <a:avLst/>
              <a:gdLst/>
              <a:ahLst/>
              <a:cxnLst/>
              <a:rect l="l" t="t" r="r" b="b"/>
              <a:pathLst>
                <a:path w="343712" h="87729">
                  <a:moveTo>
                    <a:pt x="0" y="0"/>
                  </a:moveTo>
                  <a:lnTo>
                    <a:pt x="343712" y="0"/>
                  </a:lnTo>
                  <a:lnTo>
                    <a:pt x="343712" y="87729"/>
                  </a:lnTo>
                  <a:lnTo>
                    <a:pt x="0" y="87729"/>
                  </a:lnTo>
                  <a:close/>
                </a:path>
              </a:pathLst>
            </a:custGeom>
            <a:gradFill rotWithShape="1">
              <a:gsLst>
                <a:gs pos="0">
                  <a:srgbClr val="4E69B1">
                    <a:alpha val="100000"/>
                  </a:srgbClr>
                </a:gs>
                <a:gs pos="100000">
                  <a:srgbClr val="15122A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43712" cy="1258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-7607709" y="-1481982"/>
            <a:ext cx="14774614" cy="12601514"/>
          </a:xfrm>
          <a:custGeom>
            <a:avLst/>
            <a:gdLst/>
            <a:ahLst/>
            <a:cxnLst/>
            <a:rect l="l" t="t" r="r" b="b"/>
            <a:pathLst>
              <a:path w="14774614" h="126015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42860" y="3619260"/>
            <a:ext cx="16352660" cy="4739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80" lvl="1" indent="0" algn="just">
              <a:lnSpc>
                <a:spcPts val="3360"/>
              </a:lnSpc>
              <a:buNone/>
            </a:pPr>
            <a:r>
              <a:rPr lang="en-US" altLang="en-US" sz="2400">
                <a:solidFill>
                  <a:schemeClr val="bg1"/>
                </a:solidFill>
                <a:latin typeface="open sauce light" charset="0"/>
                <a:cs typeface="open sauce light" charset="0"/>
              </a:rPr>
              <a:t>[1] M. Abou Ali, F. Dornaika, and J. Charafeddine, Agentic AI: A Comprehensive Survey of Architectures, Applications, and Future Directions, Artificial Intelligence Review, 2025.</a:t>
            </a:r>
            <a:endParaRPr lang="en-US" altLang="en-US" sz="2400">
              <a:solidFill>
                <a:schemeClr val="bg1"/>
              </a:solidFill>
              <a:latin typeface="open sauce light" charset="0"/>
              <a:cs typeface="open sauce light" charset="0"/>
            </a:endParaRPr>
          </a:p>
          <a:p>
            <a:pPr marL="259080" lvl="1" indent="0" algn="just">
              <a:lnSpc>
                <a:spcPts val="3360"/>
              </a:lnSpc>
              <a:buNone/>
            </a:pPr>
            <a:endParaRPr lang="en-US" altLang="en-US" sz="2400">
              <a:solidFill>
                <a:schemeClr val="bg1"/>
              </a:solidFill>
              <a:latin typeface="open sauce light" charset="0"/>
              <a:cs typeface="open sauce light" charset="0"/>
            </a:endParaRPr>
          </a:p>
          <a:p>
            <a:pPr marL="259080" lvl="1" indent="0" algn="just">
              <a:lnSpc>
                <a:spcPts val="3360"/>
              </a:lnSpc>
              <a:buNone/>
            </a:pPr>
            <a:r>
              <a:rPr lang="en-US" altLang="en-US" sz="2400">
                <a:solidFill>
                  <a:schemeClr val="bg1"/>
                </a:solidFill>
                <a:latin typeface="open sauce light" charset="0"/>
                <a:cs typeface="open sauce light" charset="0"/>
              </a:rPr>
              <a:t>[2] Qiskit Development Team, Qiskit Aer Documentation, IBM Quantum, 2025.</a:t>
            </a:r>
            <a:endParaRPr lang="en-US" altLang="en-US" sz="2400">
              <a:solidFill>
                <a:schemeClr val="bg1"/>
              </a:solidFill>
              <a:latin typeface="open sauce light" charset="0"/>
              <a:cs typeface="open sauce light" charset="0"/>
            </a:endParaRPr>
          </a:p>
          <a:p>
            <a:pPr marL="259080" lvl="1" indent="0" algn="just">
              <a:lnSpc>
                <a:spcPts val="3360"/>
              </a:lnSpc>
              <a:buNone/>
            </a:pPr>
            <a:endParaRPr lang="en-US" altLang="en-US" sz="2400">
              <a:solidFill>
                <a:schemeClr val="bg1"/>
              </a:solidFill>
              <a:latin typeface="open sauce light" charset="0"/>
              <a:cs typeface="open sauce light" charset="0"/>
            </a:endParaRPr>
          </a:p>
          <a:p>
            <a:pPr marL="259080" lvl="1" indent="0" algn="just">
              <a:lnSpc>
                <a:spcPts val="3360"/>
              </a:lnSpc>
              <a:buNone/>
            </a:pPr>
            <a:r>
              <a:rPr lang="en-US" altLang="en-US" sz="2400">
                <a:solidFill>
                  <a:schemeClr val="bg1"/>
                </a:solidFill>
                <a:latin typeface="open sauce light" charset="0"/>
                <a:cs typeface="open sauce light" charset="0"/>
              </a:rPr>
              <a:t>[3] NVIDIA Corporation, cuQuantum Documentation and Qiskit Integration Guide, 2024.</a:t>
            </a:r>
            <a:endParaRPr lang="en-US" altLang="en-US" sz="2400">
              <a:solidFill>
                <a:schemeClr val="bg1"/>
              </a:solidFill>
              <a:latin typeface="open sauce light" charset="0"/>
              <a:cs typeface="open sauce light" charset="0"/>
            </a:endParaRPr>
          </a:p>
          <a:p>
            <a:pPr marL="259080" lvl="1" indent="0" algn="just">
              <a:lnSpc>
                <a:spcPts val="3360"/>
              </a:lnSpc>
              <a:buNone/>
            </a:pPr>
            <a:endParaRPr lang="en-US" altLang="en-US" sz="2400">
              <a:solidFill>
                <a:schemeClr val="bg1"/>
              </a:solidFill>
              <a:latin typeface="open sauce light" charset="0"/>
              <a:cs typeface="open sauce light" charset="0"/>
            </a:endParaRPr>
          </a:p>
          <a:p>
            <a:pPr marL="259080" lvl="1" indent="0" algn="just">
              <a:lnSpc>
                <a:spcPts val="3360"/>
              </a:lnSpc>
              <a:buNone/>
            </a:pPr>
            <a:r>
              <a:rPr lang="en-US" altLang="en-US" sz="2400">
                <a:solidFill>
                  <a:schemeClr val="bg1"/>
                </a:solidFill>
                <a:latin typeface="open sauce light" charset="0"/>
                <a:cs typeface="open sauce light" charset="0"/>
              </a:rPr>
              <a:t>[4] S. Bhagat et al., Circuit Partitioning and Full Circuit Execution: A Comparative Study of GPU-Based Quantum Circuit Simulation, IEEE HiPC, 2024.</a:t>
            </a:r>
            <a:endParaRPr lang="en-US" altLang="en-US" sz="2400">
              <a:solidFill>
                <a:schemeClr val="bg1"/>
              </a:solidFill>
              <a:latin typeface="open sauce light" charset="0"/>
              <a:cs typeface="open sauce light" charset="0"/>
            </a:endParaRPr>
          </a:p>
          <a:p>
            <a:pPr marL="259080" lvl="1" indent="0" algn="just">
              <a:lnSpc>
                <a:spcPts val="3360"/>
              </a:lnSpc>
              <a:buNone/>
            </a:pPr>
            <a:endParaRPr lang="en-US" altLang="en-US" sz="2400">
              <a:solidFill>
                <a:schemeClr val="bg1"/>
              </a:solidFill>
              <a:latin typeface="open sauce light" charset="0"/>
              <a:cs typeface="open sauce light" charset="0"/>
            </a:endParaRPr>
          </a:p>
          <a:p>
            <a:pPr marL="259080" lvl="1" indent="0" algn="just">
              <a:lnSpc>
                <a:spcPts val="3360"/>
              </a:lnSpc>
              <a:buNone/>
            </a:pPr>
            <a:r>
              <a:rPr lang="en-US" altLang="en-US" sz="2400">
                <a:solidFill>
                  <a:schemeClr val="bg1"/>
                </a:solidFill>
                <a:latin typeface="open sauce light" charset="0"/>
                <a:cs typeface="open sauce light" charset="0"/>
              </a:rPr>
              <a:t>[5] Qiskit Aer Contributors, Qiskit Aer Release Notes and GPU/MPI Enhancements, IBM Quantum, 2024.</a:t>
            </a:r>
            <a:endParaRPr lang="en-US" altLang="en-US" sz="2400">
              <a:solidFill>
                <a:schemeClr val="bg1"/>
              </a:solidFill>
              <a:latin typeface="open sauce light" charset="0"/>
              <a:cs typeface="open sauce light" charset="0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0447056" y="7334890"/>
            <a:ext cx="13746548" cy="8229600"/>
          </a:xfrm>
          <a:custGeom>
            <a:avLst/>
            <a:gdLst/>
            <a:ahLst/>
            <a:cxnLst/>
            <a:rect l="l" t="t" r="r" b="b"/>
            <a:pathLst>
              <a:path w="13746548" h="8229600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604462" y="412429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Home</a:t>
            </a:r>
            <a:endParaRPr lang="en-US" sz="1700" spc="3">
              <a:solidFill>
                <a:srgbClr val="FFFFFF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447986" y="432733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Abstract</a:t>
            </a:r>
            <a:endParaRPr lang="en-US" sz="1700" spc="3">
              <a:solidFill>
                <a:srgbClr val="FFFFFF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291511" y="412429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Content</a:t>
            </a:r>
            <a:endParaRPr lang="en-US" sz="1700" b="1" spc="3">
              <a:solidFill>
                <a:srgbClr val="FFFFFF"/>
              </a:solidFill>
              <a:latin typeface="Open Sauce Heavy"/>
              <a:ea typeface="Open Sauce Heavy"/>
              <a:cs typeface="Open Sauce Heavy"/>
              <a:sym typeface="Open Sauce Heavy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5135036" y="412429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Others</a:t>
            </a:r>
            <a:endParaRPr lang="en-US" sz="1700" spc="3">
              <a:solidFill>
                <a:srgbClr val="FFFFFF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629400" y="1662430"/>
            <a:ext cx="4371340" cy="9880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7705"/>
              </a:lnSpc>
            </a:pPr>
            <a:r>
              <a:rPr lang="en-US" sz="6640" b="1" spc="-3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References</a:t>
            </a:r>
            <a:endParaRPr lang="en-US" sz="6640" b="1" spc="-312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81938" y="432733"/>
            <a:ext cx="2753652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80"/>
              </a:lnSpc>
              <a:spcBef>
                <a:spcPct val="0"/>
              </a:spcBef>
            </a:pPr>
            <a:r>
              <a:rPr lang="en-US" sz="1700" b="1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Q-HPC</a:t>
            </a:r>
            <a:endParaRPr lang="en-US" sz="1700" b="1" spc="3">
              <a:solidFill>
                <a:srgbClr val="FFFFFF"/>
              </a:solidFill>
              <a:latin typeface="Open Sauce Heavy"/>
              <a:ea typeface="Open Sauce Heavy"/>
              <a:cs typeface="Open Sauce Heavy"/>
              <a:sym typeface="Open Sauce Heavy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840608" y="413730"/>
            <a:ext cx="347251" cy="347251"/>
          </a:xfrm>
          <a:custGeom>
            <a:avLst/>
            <a:gdLst/>
            <a:ahLst/>
            <a:cxnLst/>
            <a:rect l="l" t="t" r="r" b="b"/>
            <a:pathLst>
              <a:path w="347251" h="347251">
                <a:moveTo>
                  <a:pt x="0" y="0"/>
                </a:moveTo>
                <a:lnTo>
                  <a:pt x="347251" y="0"/>
                </a:lnTo>
                <a:lnTo>
                  <a:pt x="347251" y="347251"/>
                </a:lnTo>
                <a:lnTo>
                  <a:pt x="0" y="3472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6982967" y="400502"/>
            <a:ext cx="1305033" cy="333097"/>
            <a:chOff x="0" y="0"/>
            <a:chExt cx="343712" cy="877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3712" cy="87729"/>
            </a:xfrm>
            <a:custGeom>
              <a:avLst/>
              <a:gdLst/>
              <a:ahLst/>
              <a:cxnLst/>
              <a:rect l="l" t="t" r="r" b="b"/>
              <a:pathLst>
                <a:path w="343712" h="87729">
                  <a:moveTo>
                    <a:pt x="0" y="0"/>
                  </a:moveTo>
                  <a:lnTo>
                    <a:pt x="343712" y="0"/>
                  </a:lnTo>
                  <a:lnTo>
                    <a:pt x="343712" y="87729"/>
                  </a:lnTo>
                  <a:lnTo>
                    <a:pt x="0" y="87729"/>
                  </a:lnTo>
                  <a:close/>
                </a:path>
              </a:pathLst>
            </a:custGeom>
            <a:gradFill rotWithShape="1">
              <a:gsLst>
                <a:gs pos="0">
                  <a:srgbClr val="4E69B1">
                    <a:alpha val="100000"/>
                  </a:srgbClr>
                </a:gs>
                <a:gs pos="100000">
                  <a:srgbClr val="15122A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43712" cy="1258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-7607709" y="-1481982"/>
            <a:ext cx="14774614" cy="12601514"/>
          </a:xfrm>
          <a:custGeom>
            <a:avLst/>
            <a:gdLst/>
            <a:ahLst/>
            <a:cxnLst/>
            <a:rect l="l" t="t" r="r" b="b"/>
            <a:pathLst>
              <a:path w="14774614" h="126015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604462" y="412429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Home</a:t>
            </a:r>
            <a:endParaRPr lang="en-US" sz="1700" spc="3">
              <a:solidFill>
                <a:srgbClr val="FFFFFF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447986" y="432733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Abstract</a:t>
            </a:r>
            <a:endParaRPr lang="en-US" sz="1700" spc="3">
              <a:solidFill>
                <a:srgbClr val="FFFFFF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3291511" y="412429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Content</a:t>
            </a:r>
            <a:endParaRPr lang="en-US" sz="1700" spc="3">
              <a:solidFill>
                <a:srgbClr val="FFFFFF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5135036" y="412429"/>
            <a:ext cx="1662550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r>
              <a:rPr lang="en-US" sz="1700" b="1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Others</a:t>
            </a:r>
            <a:endParaRPr lang="en-US" sz="1700" b="1" spc="3">
              <a:solidFill>
                <a:srgbClr val="FFFFFF"/>
              </a:solidFill>
              <a:latin typeface="Open Sauce Heavy"/>
              <a:ea typeface="Open Sauce Heavy"/>
              <a:cs typeface="Open Sauce Heavy"/>
              <a:sym typeface="Open Sauce Heavy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0386026" y="6423577"/>
            <a:ext cx="13746548" cy="8229600"/>
          </a:xfrm>
          <a:custGeom>
            <a:avLst/>
            <a:gdLst/>
            <a:ahLst/>
            <a:cxnLst/>
            <a:rect l="l" t="t" r="r" b="b"/>
            <a:pathLst>
              <a:path w="13746548" h="8229600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583981" y="4007878"/>
            <a:ext cx="15120037" cy="2206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015"/>
              </a:lnSpc>
              <a:spcBef>
                <a:spcPct val="0"/>
              </a:spcBef>
            </a:pPr>
            <a:r>
              <a:rPr lang="en-US" sz="12865" b="1" spc="29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THANK YOU</a:t>
            </a:r>
            <a:endParaRPr lang="en-US" sz="12865" b="1" spc="295">
              <a:solidFill>
                <a:srgbClr val="FFFFFF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583981" y="4895850"/>
            <a:ext cx="15120037" cy="2206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015"/>
              </a:lnSpc>
              <a:spcBef>
                <a:spcPct val="0"/>
              </a:spcBef>
            </a:pPr>
            <a:r>
              <a:rPr lang="en-US" sz="12865" b="1" spc="295">
                <a:solidFill>
                  <a:srgbClr val="FFFFFF">
                    <a:alpha val="49804"/>
                  </a:srgbClr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THANK YOU</a:t>
            </a:r>
            <a:endParaRPr lang="en-US" sz="12865" b="1" spc="295">
              <a:solidFill>
                <a:srgbClr val="FFFFFF">
                  <a:alpha val="49804"/>
                </a:srgbClr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583981" y="3267743"/>
            <a:ext cx="15120037" cy="2206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015"/>
              </a:lnSpc>
              <a:spcBef>
                <a:spcPct val="0"/>
              </a:spcBef>
            </a:pPr>
            <a:r>
              <a:rPr lang="en-US" sz="12865" b="1" spc="295">
                <a:solidFill>
                  <a:srgbClr val="FFFFFF">
                    <a:alpha val="49804"/>
                  </a:srgbClr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THANK YOU</a:t>
            </a:r>
            <a:endParaRPr lang="en-US" sz="12865" b="1" spc="295">
              <a:solidFill>
                <a:srgbClr val="FFFFFF">
                  <a:alpha val="49804"/>
                </a:srgbClr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81938" y="432733"/>
            <a:ext cx="2753652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80"/>
              </a:lnSpc>
              <a:spcBef>
                <a:spcPct val="0"/>
              </a:spcBef>
            </a:pPr>
            <a:r>
              <a:rPr lang="en-US" sz="1700" b="1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Q-HPC</a:t>
            </a:r>
            <a:endParaRPr lang="en-US" sz="1700" b="1" spc="3">
              <a:solidFill>
                <a:srgbClr val="FFFFFF"/>
              </a:solidFill>
              <a:latin typeface="Open Sauce Heavy"/>
              <a:ea typeface="Open Sauce Heavy"/>
              <a:cs typeface="Open Sauce Heavy"/>
              <a:sym typeface="Open Sauce Heavy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840608" y="413730"/>
            <a:ext cx="347251" cy="347251"/>
          </a:xfrm>
          <a:custGeom>
            <a:avLst/>
            <a:gdLst/>
            <a:ahLst/>
            <a:cxnLst/>
            <a:rect l="l" t="t" r="r" b="b"/>
            <a:pathLst>
              <a:path w="347251" h="347251">
                <a:moveTo>
                  <a:pt x="0" y="0"/>
                </a:moveTo>
                <a:lnTo>
                  <a:pt x="347251" y="0"/>
                </a:lnTo>
                <a:lnTo>
                  <a:pt x="347251" y="347251"/>
                </a:lnTo>
                <a:lnTo>
                  <a:pt x="0" y="3472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6968</Words>
  <Application>WPS Presentation</Application>
  <PresentationFormat>On-screen Show (4:3)</PresentationFormat>
  <Paragraphs>232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2" baseType="lpstr">
      <vt:lpstr>Arial</vt:lpstr>
      <vt:lpstr>SimSun</vt:lpstr>
      <vt:lpstr>Wingdings</vt:lpstr>
      <vt:lpstr>Open Sauce Heavy</vt:lpstr>
      <vt:lpstr>Thonburi</vt:lpstr>
      <vt:lpstr>Open Sauce</vt:lpstr>
      <vt:lpstr>Montserrat Ultra-Bold</vt:lpstr>
      <vt:lpstr>Montserrat Bold</vt:lpstr>
      <vt:lpstr>Arial</vt:lpstr>
      <vt:lpstr>Open Sauce Light</vt:lpstr>
      <vt:lpstr>Open Sauce Bold</vt:lpstr>
      <vt:lpstr>Calibri</vt:lpstr>
      <vt:lpstr>Helvetica Neue</vt:lpstr>
      <vt:lpstr>Microsoft YaHei</vt:lpstr>
      <vt:lpstr>汉仪旗黑</vt:lpstr>
      <vt:lpstr>Arial Unicode MS</vt:lpstr>
      <vt:lpstr>宋体-简</vt:lpstr>
      <vt:lpstr>open sauce light</vt:lpstr>
      <vt:lpstr>苹方-简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Dark Blue and White Modern Gradient Programming Presentation</dc:title>
  <dc:creator/>
  <cp:lastModifiedBy>Rons Messi</cp:lastModifiedBy>
  <cp:revision>2</cp:revision>
  <dcterms:created xsi:type="dcterms:W3CDTF">2026-09-08T04:40:38Z</dcterms:created>
  <dcterms:modified xsi:type="dcterms:W3CDTF">2026-09-08T04:40:38Z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1033-12.1.26050.26050</vt:lpwstr>
  </property>
  <property fmtid="{D5CDD505-2E9C-101B-9397-08002B2CF9AE}" pid="3" name="ICV">
    <vt:lpwstr>DA9328863E4C4926C6919F6A32ABAD3F_43</vt:lpwstr>
  </property>
</Properties>
</file>